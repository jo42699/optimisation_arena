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Lst>
  <p:sldSz cx="12192000" cy="6858000"/>
  <p:notesSz cx="6858000" cy="12192000"/>
  <p:embeddedFontLst>
    <p:embeddedFont>
      <p:font typeface="IBM Plex Sans" panose="020F0502020204030204" pitchFamily="34" charset="0"/>
      <p:regular r:id="rId15"/>
      <p:bold r:id="rId16"/>
      <p:italic r:id="rId17"/>
      <p:boldItalic r:id="rId18"/>
    </p:embeddedFont>
    <p:embeddedFont>
      <p:font typeface="JetBrains Mono" panose="020B0604020202020204" charset="0"/>
      <p:regular r:id="rId19"/>
      <p:bold r:id="rId20"/>
    </p:embeddedFont>
    <p:embeddedFont>
      <p:font typeface="Space Grotesk" panose="020B0604020202020204" charset="0"/>
      <p:regular r:id="rId21"/>
      <p:bold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7" d="100"/>
          <a:sy n="77" d="100"/>
        </p:scale>
        <p:origin x="24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5658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one-line pitch: Optimisation Arena compares optimisation algorithms on benchmark functions and uses real experiment data to recommend, explain and verify which algorithm to use.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an algorithm without experimental evidence leads to inefficient or poor optimisation. Performance depends on the function, dimensionality, initial conditions and computational budget.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benchmark functions give controlled, repeatable test environments. Objective values let us measure performance quantitatively instead of judging by eye.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algorithm has strengths and weaknesses. The arena runs them on the same problems under comparable conditions so the comparison is fair.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dashboard is already built: a dark, scientific interface with Plotly landscape plots and convergence charts. Walk through a screenshot or switch to the live app here.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project fits the HRT category: measured experimental data becomes a prediction that can be checked against a real outcome. The model is loaded for inference, not retrained on each request.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Splitting by configuration stops near-duplicate runs of the same problem from leaking into the test set and inflating accuracy. The preprocessing is saved with the model so training and prediction use identical transformations.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actual winner is decided with the same objective definition used to create the training labels, so prediction and verification are directly comparable.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the bracketed values from a real run before presenting, or switch to the live demo here. Never present example values as live predictions.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is not reliable just because it was trained. These safeguards are what make the predictions credible to judges looking for good use of data.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differentiator is the connection: controlled experiments generate data, the model learns from it, recommends an algorithm, and the recommendation is tested against measured outcomes.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one-sentence description, then invite questions. Have the live demo open in case judges want to see another prediction.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E142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EEF1F5"/>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9601"/>
            <a:ext cx="10566400" cy="4165599"/>
          </a:xfrm>
          <a:prstGeom prst="rect">
            <a:avLst/>
          </a:prstGeom>
          <a:noFill/>
          <a:ln/>
        </p:spPr>
        <p:txBody>
          <a:bodyPr wrap="square" lIns="0" tIns="0" rIns="0" bIns="0" rtlCol="0" anchor="t"/>
          <a:lstStyle>
            <a:lvl1pPr marL="0" indent="0" algn="l">
              <a:lnSpc>
                <a:spcPct val="140000"/>
              </a:lnSpc>
              <a:buNone/>
              <a:defRPr lang="en-US" sz="1600" dirty="0">
                <a:solidFill>
                  <a:srgbClr val="EEF1F5"/>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E142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EEF1F5"/>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9601"/>
            <a:ext cx="10566400" cy="4165599"/>
          </a:xfrm>
          <a:prstGeom prst="rect">
            <a:avLst/>
          </a:prstGeom>
          <a:noFill/>
          <a:ln/>
        </p:spPr>
        <p:txBody>
          <a:bodyPr wrap="square" lIns="0" tIns="0" rIns="0" bIns="0" rtlCol="0" anchor="t"/>
          <a:lstStyle>
            <a:lvl1pPr marL="0" indent="0" algn="l">
              <a:lnSpc>
                <a:spcPct val="140000"/>
              </a:lnSpc>
              <a:buNone/>
              <a:defRPr lang="en-US" sz="1600" dirty="0">
                <a:solidFill>
                  <a:srgbClr val="EEF1F5"/>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0"/>
        </a:solidFill>
        <a:effectLst/>
      </p:bgPr>
    </p:bg>
    <p:spTree>
      <p:nvGrpSpPr>
        <p:cNvPr id="1" name=""/>
        <p:cNvGrpSpPr/>
        <p:nvPr/>
      </p:nvGrpSpPr>
      <p:grpSpPr>
        <a:xfrm>
          <a:off x="0" y="0"/>
          <a:ext cx="0" cy="0"/>
          <a:chOff x="0" y="0"/>
          <a:chExt cx="0" cy="0"/>
        </a:xfrm>
      </p:grpSpPr>
      <p:sp>
        <p:nvSpPr>
          <p:cNvPr id="2" name="Text 0"/>
          <p:cNvSpPr/>
          <p:nvPr/>
        </p:nvSpPr>
        <p:spPr>
          <a:xfrm>
            <a:off x="812800" y="1844040"/>
            <a:ext cx="5284724"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4FD1C5"/>
                </a:solidFill>
                <a:latin typeface="JetBrains Mono" pitchFamily="49" charset="0"/>
                <a:ea typeface="JetBrains Mono" pitchFamily="49" charset="-122"/>
                <a:cs typeface="JetBrains Mono" pitchFamily="49" charset="-120"/>
              </a:rPr>
              <a:t>OXHACK 2026 · HRT TRACK</a:t>
            </a:r>
            <a:endParaRPr lang="en-US" sz="1200" dirty="0"/>
          </a:p>
        </p:txBody>
      </p:sp>
      <p:sp>
        <p:nvSpPr>
          <p:cNvPr id="3" name="Text 1"/>
          <p:cNvSpPr>
            <a:spLocks noGrp="1"/>
          </p:cNvSpPr>
          <p:nvPr>
            <p:ph type="title"/>
          </p:nvPr>
        </p:nvSpPr>
        <p:spPr>
          <a:xfrm>
            <a:off x="812800" y="2260600"/>
            <a:ext cx="5284724" cy="1518920"/>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EEF1F5"/>
                </a:solidFill>
                <a:latin typeface="Space Grotesk" pitchFamily="34" charset="0"/>
                <a:ea typeface="Space Grotesk" pitchFamily="34" charset="-122"/>
                <a:cs typeface="Space Grotesk" pitchFamily="34" charset="-120"/>
              </a:rPr>
              <a:t>Optimisation Arena</a:t>
            </a:r>
            <a:endParaRPr lang="en-US" sz="5600" dirty="0"/>
          </a:p>
        </p:txBody>
      </p:sp>
      <p:sp>
        <p:nvSpPr>
          <p:cNvPr id="4" name="Text 2"/>
          <p:cNvSpPr/>
          <p:nvPr/>
        </p:nvSpPr>
        <p:spPr>
          <a:xfrm>
            <a:off x="812800" y="3957320"/>
            <a:ext cx="5284724"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4BFCC"/>
                </a:solidFill>
                <a:latin typeface="IBM Plex Sans" pitchFamily="34" charset="0"/>
                <a:ea typeface="IBM Plex Sans" pitchFamily="34" charset="-122"/>
                <a:cs typeface="IBM Plex Sans" pitchFamily="34" charset="-120"/>
              </a:rPr>
              <a:t>Evidence-based algorithm selection: compare, predict, and verify with real experiments.</a:t>
            </a:r>
            <a:endParaRPr lang="en-US" sz="1800" dirty="0"/>
          </a:p>
        </p:txBody>
      </p:sp>
      <p:sp>
        <p:nvSpPr>
          <p:cNvPr id="5" name="Text 3"/>
          <p:cNvSpPr/>
          <p:nvPr/>
        </p:nvSpPr>
        <p:spPr>
          <a:xfrm>
            <a:off x="812800" y="4800600"/>
            <a:ext cx="528472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391A4"/>
                </a:solidFill>
                <a:latin typeface="JetBrains Mono" pitchFamily="49" charset="0"/>
                <a:ea typeface="JetBrains Mono" pitchFamily="49" charset="-122"/>
                <a:cs typeface="JetBrains Mono" pitchFamily="49" charset="-120"/>
              </a:rPr>
              <a:t>Best Use of Data for Predictions and Decision Making</a:t>
            </a:r>
            <a:endParaRPr lang="en-US" sz="1200" dirty="0"/>
          </a:p>
        </p:txBody>
      </p:sp>
      <p:pic>
        <p:nvPicPr>
          <p:cNvPr id="8" name="Picture 7">
            <a:extLst>
              <a:ext uri="{FF2B5EF4-FFF2-40B4-BE49-F238E27FC236}">
                <a16:creationId xmlns:a16="http://schemas.microsoft.com/office/drawing/2014/main" id="{A7CC13F2-3278-02B2-7F68-9A4B0604DB00}"/>
              </a:ext>
            </a:extLst>
          </p:cNvPr>
          <p:cNvPicPr>
            <a:picLocks noChangeAspect="1"/>
          </p:cNvPicPr>
          <p:nvPr/>
        </p:nvPicPr>
        <p:blipFill>
          <a:blip r:embed="rId3"/>
          <a:srcRect r="21196"/>
          <a:stretch>
            <a:fillRect/>
          </a:stretch>
        </p:blipFill>
        <p:spPr>
          <a:xfrm>
            <a:off x="5896946" y="1563758"/>
            <a:ext cx="5934270" cy="359840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42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4FD1C5"/>
                </a:solidFill>
                <a:latin typeface="JetBrains Mono" pitchFamily="49" charset="0"/>
                <a:ea typeface="JetBrains Mono" pitchFamily="49" charset="-122"/>
                <a:cs typeface="JetBrains Mono" pitchFamily="49" charset="-120"/>
              </a:rPr>
              <a:t>THE PROBLEM</a:t>
            </a:r>
            <a:endParaRPr lang="en-US" sz="1200" dirty="0"/>
          </a:p>
        </p:txBody>
      </p:sp>
      <p:sp>
        <p:nvSpPr>
          <p:cNvPr id="3" name="Text 1"/>
          <p:cNvSpPr>
            <a:spLocks noGrp="1"/>
          </p:cNvSpPr>
          <p:nvPr>
            <p:ph type="title"/>
          </p:nvPr>
        </p:nvSpPr>
        <p:spPr>
          <a:xfrm>
            <a:off x="812800" y="1178560"/>
            <a:ext cx="10883392" cy="142748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EEF1F5"/>
                </a:solidFill>
                <a:latin typeface="Space Grotesk" pitchFamily="34" charset="0"/>
                <a:ea typeface="Space Grotesk" pitchFamily="34" charset="-122"/>
                <a:cs typeface="Space Grotesk" pitchFamily="34" charset="-120"/>
              </a:rPr>
              <a:t>Given a problem and a limited evaluation budget, which algorithm should we choose — and what evidence supports that choice?</a:t>
            </a:r>
            <a:endParaRPr lang="en-US" sz="3200" dirty="0"/>
          </a:p>
        </p:txBody>
      </p:sp>
      <p:sp>
        <p:nvSpPr>
          <p:cNvPr id="4" name="Shape 2"/>
          <p:cNvSpPr/>
          <p:nvPr/>
        </p:nvSpPr>
        <p:spPr>
          <a:xfrm>
            <a:off x="812800" y="4127500"/>
            <a:ext cx="3386614" cy="1714500"/>
          </a:xfrm>
          <a:prstGeom prst="roundRect">
            <a:avLst>
              <a:gd name="adj" fmla="val 5926"/>
            </a:avLst>
          </a:prstGeom>
          <a:solidFill>
            <a:srgbClr val="161E2D"/>
          </a:solidFill>
          <a:ln/>
        </p:spPr>
        <p:txBody>
          <a:bodyPr/>
          <a:lstStyle/>
          <a:p>
            <a:endParaRPr lang="en-GB"/>
          </a:p>
        </p:txBody>
      </p:sp>
      <p:sp>
        <p:nvSpPr>
          <p:cNvPr id="5" name="Text 3"/>
          <p:cNvSpPr/>
          <p:nvPr/>
        </p:nvSpPr>
        <p:spPr>
          <a:xfrm>
            <a:off x="1066800" y="4381500"/>
            <a:ext cx="296497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EF1F5"/>
                </a:solidFill>
                <a:latin typeface="Space Grotesk" pitchFamily="34" charset="0"/>
                <a:ea typeface="Space Grotesk" pitchFamily="34" charset="-122"/>
                <a:cs typeface="Space Grotesk" pitchFamily="34" charset="-120"/>
              </a:rPr>
              <a:t>Landscape</a:t>
            </a:r>
            <a:endParaRPr lang="en-US" sz="2000" dirty="0"/>
          </a:p>
        </p:txBody>
      </p:sp>
      <p:sp>
        <p:nvSpPr>
          <p:cNvPr id="6" name="Text 4"/>
          <p:cNvSpPr/>
          <p:nvPr/>
        </p:nvSpPr>
        <p:spPr>
          <a:xfrm>
            <a:off x="1066800" y="4787900"/>
            <a:ext cx="2964972"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4BFCC"/>
                </a:solidFill>
                <a:latin typeface="IBM Plex Sans" pitchFamily="34" charset="0"/>
                <a:ea typeface="IBM Plex Sans" pitchFamily="34" charset="-122"/>
                <a:cs typeface="IBM Plex Sans" pitchFamily="34" charset="-120"/>
              </a:rPr>
              <a:t>What wins on a smooth convex bowl can stall among many local minima.</a:t>
            </a:r>
            <a:endParaRPr lang="en-US" sz="1500" dirty="0"/>
          </a:p>
        </p:txBody>
      </p:sp>
      <p:sp>
        <p:nvSpPr>
          <p:cNvPr id="7" name="Shape 5"/>
          <p:cNvSpPr/>
          <p:nvPr/>
        </p:nvSpPr>
        <p:spPr>
          <a:xfrm>
            <a:off x="4402614" y="4127500"/>
            <a:ext cx="3386693" cy="1714500"/>
          </a:xfrm>
          <a:prstGeom prst="roundRect">
            <a:avLst>
              <a:gd name="adj" fmla="val 5926"/>
            </a:avLst>
          </a:prstGeom>
          <a:solidFill>
            <a:srgbClr val="161E2D"/>
          </a:solidFill>
          <a:ln/>
        </p:spPr>
        <p:txBody>
          <a:bodyPr/>
          <a:lstStyle/>
          <a:p>
            <a:endParaRPr lang="en-GB"/>
          </a:p>
        </p:txBody>
      </p:sp>
      <p:sp>
        <p:nvSpPr>
          <p:cNvPr id="8" name="Text 6"/>
          <p:cNvSpPr/>
          <p:nvPr/>
        </p:nvSpPr>
        <p:spPr>
          <a:xfrm>
            <a:off x="4656614" y="4381500"/>
            <a:ext cx="296505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EF1F5"/>
                </a:solidFill>
                <a:latin typeface="Space Grotesk" pitchFamily="34" charset="0"/>
                <a:ea typeface="Space Grotesk" pitchFamily="34" charset="-122"/>
                <a:cs typeface="Space Grotesk" pitchFamily="34" charset="-120"/>
              </a:rPr>
              <a:t>Dimensions</a:t>
            </a:r>
            <a:endParaRPr lang="en-US" sz="2000" dirty="0"/>
          </a:p>
        </p:txBody>
      </p:sp>
      <p:sp>
        <p:nvSpPr>
          <p:cNvPr id="9" name="Text 7"/>
          <p:cNvSpPr/>
          <p:nvPr/>
        </p:nvSpPr>
        <p:spPr>
          <a:xfrm>
            <a:off x="4656614" y="4787900"/>
            <a:ext cx="296505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4BFCC"/>
                </a:solidFill>
                <a:latin typeface="IBM Plex Sans" pitchFamily="34" charset="0"/>
                <a:ea typeface="IBM Plex Sans" pitchFamily="34" charset="-122"/>
                <a:cs typeface="IBM Plex Sans" pitchFamily="34" charset="-120"/>
              </a:rPr>
              <a:t>Behaviour shifts as the search space grows.</a:t>
            </a:r>
            <a:endParaRPr lang="en-US" sz="1500" dirty="0"/>
          </a:p>
        </p:txBody>
      </p:sp>
      <p:sp>
        <p:nvSpPr>
          <p:cNvPr id="10" name="Shape 8"/>
          <p:cNvSpPr/>
          <p:nvPr/>
        </p:nvSpPr>
        <p:spPr>
          <a:xfrm>
            <a:off x="7992507" y="4127500"/>
            <a:ext cx="3386693" cy="1714500"/>
          </a:xfrm>
          <a:prstGeom prst="roundRect">
            <a:avLst>
              <a:gd name="adj" fmla="val 5926"/>
            </a:avLst>
          </a:prstGeom>
          <a:solidFill>
            <a:srgbClr val="161E2D"/>
          </a:solidFill>
          <a:ln/>
        </p:spPr>
        <p:txBody>
          <a:bodyPr/>
          <a:lstStyle/>
          <a:p>
            <a:endParaRPr lang="en-GB"/>
          </a:p>
        </p:txBody>
      </p:sp>
      <p:sp>
        <p:nvSpPr>
          <p:cNvPr id="11" name="Text 9"/>
          <p:cNvSpPr/>
          <p:nvPr/>
        </p:nvSpPr>
        <p:spPr>
          <a:xfrm>
            <a:off x="8246507" y="4381500"/>
            <a:ext cx="296505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EF1F5"/>
                </a:solidFill>
                <a:latin typeface="Space Grotesk" pitchFamily="34" charset="0"/>
                <a:ea typeface="Space Grotesk" pitchFamily="34" charset="-122"/>
                <a:cs typeface="Space Grotesk" pitchFamily="34" charset="-120"/>
              </a:rPr>
              <a:t>Budget</a:t>
            </a:r>
            <a:endParaRPr lang="en-US" sz="2000" dirty="0"/>
          </a:p>
        </p:txBody>
      </p:sp>
      <p:sp>
        <p:nvSpPr>
          <p:cNvPr id="12" name="Text 10"/>
          <p:cNvSpPr/>
          <p:nvPr/>
        </p:nvSpPr>
        <p:spPr>
          <a:xfrm>
            <a:off x="8246507" y="4787900"/>
            <a:ext cx="296505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4BFCC"/>
                </a:solidFill>
                <a:latin typeface="IBM Plex Sans" pitchFamily="34" charset="0"/>
                <a:ea typeface="IBM Plex Sans" pitchFamily="34" charset="-122"/>
                <a:cs typeface="IBM Plex Sans" pitchFamily="34" charset="-120"/>
              </a:rPr>
              <a:t>Wider exploration often costs more evaluations and compute.</a:t>
            </a:r>
            <a:endParaRPr lang="en-US" sz="1500" dirty="0"/>
          </a:p>
        </p:txBody>
      </p:sp>
      <p:sp>
        <p:nvSpPr>
          <p:cNvPr id="13" name="Text 11"/>
          <p:cNvSpPr/>
          <p:nvPr/>
        </p:nvSpPr>
        <p:spPr>
          <a:xfrm>
            <a:off x="812800" y="6238241"/>
            <a:ext cx="351129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391A4"/>
                </a:solidFill>
                <a:latin typeface="JetBrains Mono" pitchFamily="49" charset="0"/>
                <a:ea typeface="JetBrains Mono" pitchFamily="49" charset="-122"/>
                <a:cs typeface="JetBrains Mono" pitchFamily="49" charset="-120"/>
              </a:rPr>
              <a:t>Optimisation Arena · OxHack 2026</a:t>
            </a:r>
            <a:endParaRPr lang="en-US" sz="1200" dirty="0"/>
          </a:p>
        </p:txBody>
      </p:sp>
      <p:sp>
        <p:nvSpPr>
          <p:cNvPr id="14" name="Text 12"/>
          <p:cNvSpPr/>
          <p:nvPr/>
        </p:nvSpPr>
        <p:spPr>
          <a:xfrm>
            <a:off x="11145520" y="6238241"/>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391A4"/>
                </a:solidFill>
                <a:latin typeface="JetBrains Mono" pitchFamily="49" charset="0"/>
                <a:ea typeface="JetBrains Mono" pitchFamily="49" charset="-122"/>
                <a:cs typeface="JetBrains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2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F7C73"/>
                </a:solidFill>
                <a:latin typeface="JetBrains Mono" pitchFamily="49" charset="0"/>
                <a:ea typeface="JetBrains Mono" pitchFamily="49" charset="-122"/>
                <a:cs typeface="JetBrains Mono" pitchFamily="49" charset="-120"/>
              </a:rPr>
              <a:t>THE ARENA</a:t>
            </a:r>
            <a:endParaRPr lang="en-US" sz="1200" dirty="0"/>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E1420"/>
                </a:solidFill>
                <a:latin typeface="Space Grotesk" pitchFamily="34" charset="0"/>
                <a:ea typeface="Space Grotesk" pitchFamily="34" charset="-122"/>
                <a:cs typeface="Space Grotesk" pitchFamily="34" charset="-120"/>
              </a:rPr>
              <a:t>Four benchmark landscapes</a:t>
            </a:r>
            <a:endParaRPr lang="en-US" sz="3200" dirty="0"/>
          </a:p>
        </p:txBody>
      </p:sp>
      <p:sp>
        <p:nvSpPr>
          <p:cNvPr id="5" name="Text 3"/>
          <p:cNvSpPr/>
          <p:nvPr/>
        </p:nvSpPr>
        <p:spPr>
          <a:xfrm>
            <a:off x="812800" y="3378200"/>
            <a:ext cx="256387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E1420"/>
                </a:solidFill>
                <a:latin typeface="Space Grotesk" pitchFamily="34" charset="0"/>
                <a:ea typeface="Space Grotesk" pitchFamily="34" charset="-122"/>
                <a:cs typeface="Space Grotesk" pitchFamily="34" charset="-120"/>
              </a:rPr>
              <a:t>Sphere</a:t>
            </a:r>
            <a:endParaRPr lang="en-US" sz="2000" dirty="0"/>
          </a:p>
        </p:txBody>
      </p:sp>
      <p:sp>
        <p:nvSpPr>
          <p:cNvPr id="6" name="Text 4"/>
          <p:cNvSpPr/>
          <p:nvPr/>
        </p:nvSpPr>
        <p:spPr>
          <a:xfrm>
            <a:off x="812800" y="3784600"/>
            <a:ext cx="2563876"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One global minimum. Tests basic convergence.</a:t>
            </a:r>
            <a:endParaRPr lang="en-US" sz="1300" dirty="0"/>
          </a:p>
        </p:txBody>
      </p:sp>
      <p:sp>
        <p:nvSpPr>
          <p:cNvPr id="8" name="Text 6"/>
          <p:cNvSpPr/>
          <p:nvPr/>
        </p:nvSpPr>
        <p:spPr>
          <a:xfrm>
            <a:off x="3505200" y="3378200"/>
            <a:ext cx="256387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E1420"/>
                </a:solidFill>
                <a:latin typeface="Space Grotesk" pitchFamily="34" charset="0"/>
                <a:ea typeface="Space Grotesk" pitchFamily="34" charset="-122"/>
                <a:cs typeface="Space Grotesk" pitchFamily="34" charset="-120"/>
              </a:rPr>
              <a:t>Rosenbrock</a:t>
            </a:r>
            <a:endParaRPr lang="en-US" sz="2000" dirty="0"/>
          </a:p>
        </p:txBody>
      </p:sp>
      <p:sp>
        <p:nvSpPr>
          <p:cNvPr id="9" name="Text 7"/>
          <p:cNvSpPr/>
          <p:nvPr/>
        </p:nvSpPr>
        <p:spPr>
          <a:xfrm>
            <a:off x="3505200" y="3784600"/>
            <a:ext cx="2563876"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A narrow, curved valley. Tests navigation of awkward geometry.</a:t>
            </a:r>
            <a:endParaRPr lang="en-US" sz="1300" dirty="0"/>
          </a:p>
        </p:txBody>
      </p:sp>
      <p:sp>
        <p:nvSpPr>
          <p:cNvPr id="11" name="Text 9"/>
          <p:cNvSpPr/>
          <p:nvPr/>
        </p:nvSpPr>
        <p:spPr>
          <a:xfrm>
            <a:off x="6197600" y="3378200"/>
            <a:ext cx="256387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E1420"/>
                </a:solidFill>
                <a:latin typeface="Space Grotesk" pitchFamily="34" charset="0"/>
                <a:ea typeface="Space Grotesk" pitchFamily="34" charset="-122"/>
                <a:cs typeface="Space Grotesk" pitchFamily="34" charset="-120"/>
              </a:rPr>
              <a:t>Rastrigin</a:t>
            </a:r>
            <a:endParaRPr lang="en-US" sz="2000" dirty="0"/>
          </a:p>
        </p:txBody>
      </p:sp>
      <p:sp>
        <p:nvSpPr>
          <p:cNvPr id="12" name="Text 10"/>
          <p:cNvSpPr/>
          <p:nvPr/>
        </p:nvSpPr>
        <p:spPr>
          <a:xfrm>
            <a:off x="6197600" y="3784600"/>
            <a:ext cx="2563876"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Many local minima. Tests exploration and escape.</a:t>
            </a:r>
            <a:endParaRPr lang="en-US" sz="1300" dirty="0"/>
          </a:p>
        </p:txBody>
      </p:sp>
      <p:sp>
        <p:nvSpPr>
          <p:cNvPr id="14" name="Text 12"/>
          <p:cNvSpPr/>
          <p:nvPr/>
        </p:nvSpPr>
        <p:spPr>
          <a:xfrm>
            <a:off x="8890000" y="3378200"/>
            <a:ext cx="256387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E1420"/>
                </a:solidFill>
                <a:latin typeface="Space Grotesk" pitchFamily="34" charset="0"/>
                <a:ea typeface="Space Grotesk" pitchFamily="34" charset="-122"/>
                <a:cs typeface="Space Grotesk" pitchFamily="34" charset="-120"/>
              </a:rPr>
              <a:t>Himmelblau</a:t>
            </a:r>
            <a:endParaRPr lang="en-US" sz="2000" dirty="0"/>
          </a:p>
        </p:txBody>
      </p:sp>
      <p:sp>
        <p:nvSpPr>
          <p:cNvPr id="15" name="Text 13"/>
          <p:cNvSpPr/>
          <p:nvPr/>
        </p:nvSpPr>
        <p:spPr>
          <a:xfrm>
            <a:off x="8890000" y="3784600"/>
            <a:ext cx="2563876"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Several minima. Tests choice between promising regions.</a:t>
            </a:r>
            <a:endParaRPr lang="en-US" sz="1300" dirty="0"/>
          </a:p>
        </p:txBody>
      </p:sp>
      <p:sp>
        <p:nvSpPr>
          <p:cNvPr id="16" name="Text 14"/>
          <p:cNvSpPr/>
          <p:nvPr/>
        </p:nvSpPr>
        <p:spPr>
          <a:xfrm>
            <a:off x="812800" y="6238241"/>
            <a:ext cx="351129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JetBrains Mono" pitchFamily="49" charset="0"/>
                <a:ea typeface="JetBrains Mono" pitchFamily="49" charset="-122"/>
                <a:cs typeface="JetBrains Mono" pitchFamily="49" charset="-120"/>
              </a:rPr>
              <a:t>Optimisation Arena · OxHack 2026</a:t>
            </a:r>
            <a:endParaRPr lang="en-US" sz="1200" dirty="0"/>
          </a:p>
        </p:txBody>
      </p:sp>
      <p:sp>
        <p:nvSpPr>
          <p:cNvPr id="17" name="Text 15"/>
          <p:cNvSpPr/>
          <p:nvPr/>
        </p:nvSpPr>
        <p:spPr>
          <a:xfrm>
            <a:off x="11145520" y="6238241"/>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JetBrains Mono" pitchFamily="49" charset="0"/>
                <a:ea typeface="JetBrains Mono" pitchFamily="49" charset="-122"/>
                <a:cs typeface="JetBrains Mono" pitchFamily="49" charset="-120"/>
              </a:rPr>
              <a:t>03</a:t>
            </a:r>
            <a:endParaRPr lang="en-US" sz="1200" dirty="0"/>
          </a:p>
        </p:txBody>
      </p:sp>
      <p:pic>
        <p:nvPicPr>
          <p:cNvPr id="19" name="Picture 18">
            <a:extLst>
              <a:ext uri="{FF2B5EF4-FFF2-40B4-BE49-F238E27FC236}">
                <a16:creationId xmlns:a16="http://schemas.microsoft.com/office/drawing/2014/main" id="{C73F130F-3626-19FF-9464-AE771A117B72}"/>
              </a:ext>
            </a:extLst>
          </p:cNvPr>
          <p:cNvPicPr>
            <a:picLocks noChangeAspect="1"/>
          </p:cNvPicPr>
          <p:nvPr/>
        </p:nvPicPr>
        <p:blipFill>
          <a:blip r:embed="rId3"/>
          <a:srcRect l="9126"/>
          <a:stretch>
            <a:fillRect/>
          </a:stretch>
        </p:blipFill>
        <p:spPr>
          <a:xfrm>
            <a:off x="965170" y="1630901"/>
            <a:ext cx="1973974" cy="1777558"/>
          </a:xfrm>
          <a:prstGeom prst="rect">
            <a:avLst/>
          </a:prstGeom>
        </p:spPr>
      </p:pic>
      <p:pic>
        <p:nvPicPr>
          <p:cNvPr id="21" name="Picture 20">
            <a:extLst>
              <a:ext uri="{FF2B5EF4-FFF2-40B4-BE49-F238E27FC236}">
                <a16:creationId xmlns:a16="http://schemas.microsoft.com/office/drawing/2014/main" id="{54D5F8D9-FDA0-58FA-AF71-88F7AE41F996}"/>
              </a:ext>
            </a:extLst>
          </p:cNvPr>
          <p:cNvPicPr>
            <a:picLocks noChangeAspect="1"/>
          </p:cNvPicPr>
          <p:nvPr/>
        </p:nvPicPr>
        <p:blipFill>
          <a:blip r:embed="rId4"/>
          <a:stretch>
            <a:fillRect/>
          </a:stretch>
        </p:blipFill>
        <p:spPr>
          <a:xfrm>
            <a:off x="3461346" y="1600041"/>
            <a:ext cx="2239654" cy="1756591"/>
          </a:xfrm>
          <a:prstGeom prst="rect">
            <a:avLst/>
          </a:prstGeom>
        </p:spPr>
      </p:pic>
      <p:pic>
        <p:nvPicPr>
          <p:cNvPr id="23" name="Picture 22">
            <a:extLst>
              <a:ext uri="{FF2B5EF4-FFF2-40B4-BE49-F238E27FC236}">
                <a16:creationId xmlns:a16="http://schemas.microsoft.com/office/drawing/2014/main" id="{473C278C-D051-954E-A1A0-770FA8ECA961}"/>
              </a:ext>
            </a:extLst>
          </p:cNvPr>
          <p:cNvPicPr>
            <a:picLocks noChangeAspect="1"/>
          </p:cNvPicPr>
          <p:nvPr/>
        </p:nvPicPr>
        <p:blipFill>
          <a:blip r:embed="rId5"/>
          <a:stretch>
            <a:fillRect/>
          </a:stretch>
        </p:blipFill>
        <p:spPr>
          <a:xfrm>
            <a:off x="6096000" y="1634002"/>
            <a:ext cx="2151193" cy="1733414"/>
          </a:xfrm>
          <a:prstGeom prst="rect">
            <a:avLst/>
          </a:prstGeom>
        </p:spPr>
      </p:pic>
      <p:pic>
        <p:nvPicPr>
          <p:cNvPr id="25" name="Picture 24">
            <a:extLst>
              <a:ext uri="{FF2B5EF4-FFF2-40B4-BE49-F238E27FC236}">
                <a16:creationId xmlns:a16="http://schemas.microsoft.com/office/drawing/2014/main" id="{A9BDBEB1-8A95-2723-42CF-5C4B89D518A1}"/>
              </a:ext>
            </a:extLst>
          </p:cNvPr>
          <p:cNvPicPr>
            <a:picLocks noChangeAspect="1"/>
          </p:cNvPicPr>
          <p:nvPr/>
        </p:nvPicPr>
        <p:blipFill>
          <a:blip r:embed="rId6"/>
          <a:stretch>
            <a:fillRect/>
          </a:stretch>
        </p:blipFill>
        <p:spPr>
          <a:xfrm>
            <a:off x="8592152" y="1644785"/>
            <a:ext cx="2362641" cy="173341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42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4FD1C5"/>
                </a:solidFill>
                <a:latin typeface="JetBrains Mono" pitchFamily="49" charset="0"/>
                <a:ea typeface="JetBrains Mono" pitchFamily="49" charset="-122"/>
                <a:cs typeface="JetBrains Mono" pitchFamily="49" charset="-120"/>
              </a:rPr>
              <a:t>THE COMPETITORS</a:t>
            </a:r>
            <a:endParaRPr lang="en-US" sz="1200" dirty="0"/>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EF1F5"/>
                </a:solidFill>
                <a:latin typeface="Space Grotesk" pitchFamily="34" charset="0"/>
                <a:ea typeface="Space Grotesk" pitchFamily="34" charset="-122"/>
                <a:cs typeface="Space Grotesk" pitchFamily="34" charset="-120"/>
              </a:rPr>
              <a:t>Three ways to search</a:t>
            </a:r>
            <a:endParaRPr lang="en-US" sz="3200" dirty="0"/>
          </a:p>
        </p:txBody>
      </p:sp>
      <p:sp>
        <p:nvSpPr>
          <p:cNvPr id="4" name="Shape 2"/>
          <p:cNvSpPr/>
          <p:nvPr/>
        </p:nvSpPr>
        <p:spPr>
          <a:xfrm>
            <a:off x="812800" y="2430780"/>
            <a:ext cx="3386614" cy="2306320"/>
          </a:xfrm>
          <a:prstGeom prst="roundRect">
            <a:avLst>
              <a:gd name="adj" fmla="val 4405"/>
            </a:avLst>
          </a:prstGeom>
          <a:solidFill>
            <a:srgbClr val="161E2D"/>
          </a:solidFill>
          <a:ln/>
        </p:spPr>
        <p:txBody>
          <a:bodyPr/>
          <a:lstStyle/>
          <a:p>
            <a:endParaRPr lang="en-GB"/>
          </a:p>
        </p:txBody>
      </p:sp>
      <p:sp>
        <p:nvSpPr>
          <p:cNvPr id="5" name="Shape 3"/>
          <p:cNvSpPr/>
          <p:nvPr/>
        </p:nvSpPr>
        <p:spPr>
          <a:xfrm>
            <a:off x="812800" y="2430780"/>
            <a:ext cx="3386614" cy="2306320"/>
          </a:xfrm>
          <a:custGeom>
            <a:avLst/>
            <a:gdLst/>
            <a:ahLst/>
            <a:cxnLst/>
            <a:rect l="l" t="t" r="r" b="b"/>
            <a:pathLst>
              <a:path w="3386614" h="2306320">
                <a:moveTo>
                  <a:pt x="0" y="101600"/>
                </a:moveTo>
                <a:lnTo>
                  <a:pt x="0" y="101600"/>
                </a:lnTo>
                <a:arcTo wR="101600" hR="101600" stAng="10800000" swAng="5400000"/>
                <a:lnTo>
                  <a:pt x="3285014" y="0"/>
                </a:lnTo>
                <a:arcTo wR="101600" hR="101600" stAng="16200000" swAng="5400000"/>
                <a:lnTo>
                  <a:pt x="3386614" y="101600"/>
                </a:lnTo>
                <a:arcTo wR="101600" hR="63500" stAng="0" swAng="-5400000"/>
                <a:lnTo>
                  <a:pt x="101600" y="38100"/>
                </a:lnTo>
                <a:arcTo wR="101600" hR="63500" stAng="16200000" swAng="-5400000"/>
                <a:close/>
              </a:path>
            </a:pathLst>
          </a:custGeom>
          <a:solidFill>
            <a:srgbClr val="4FD1C5"/>
          </a:solidFill>
          <a:ln/>
        </p:spPr>
        <p:txBody>
          <a:bodyPr/>
          <a:lstStyle/>
          <a:p>
            <a:endParaRPr lang="en-GB"/>
          </a:p>
        </p:txBody>
      </p:sp>
      <p:pic>
        <p:nvPicPr>
          <p:cNvPr id="6" name="Image 0" descr="Activity"/>
          <p:cNvPicPr>
            <a:picLocks noChangeAspect="1"/>
          </p:cNvPicPr>
          <p:nvPr/>
        </p:nvPicPr>
        <p:blipFill>
          <a:blip r:embed="rId3"/>
          <a:srcRect/>
          <a:stretch/>
        </p:blipFill>
        <p:spPr>
          <a:xfrm>
            <a:off x="1117600" y="2771141"/>
            <a:ext cx="355600" cy="355600"/>
          </a:xfrm>
          <a:prstGeom prst="rect">
            <a:avLst/>
          </a:prstGeom>
        </p:spPr>
      </p:pic>
      <p:sp>
        <p:nvSpPr>
          <p:cNvPr id="7" name="Text 4"/>
          <p:cNvSpPr/>
          <p:nvPr/>
        </p:nvSpPr>
        <p:spPr>
          <a:xfrm>
            <a:off x="1117600" y="3253741"/>
            <a:ext cx="286032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EF1F5"/>
                </a:solidFill>
                <a:latin typeface="Space Grotesk" pitchFamily="34" charset="0"/>
                <a:ea typeface="Space Grotesk" pitchFamily="34" charset="-122"/>
                <a:cs typeface="Space Grotesk" pitchFamily="34" charset="-120"/>
              </a:rPr>
              <a:t>Gradient Descent</a:t>
            </a:r>
            <a:endParaRPr lang="en-US" sz="2000" dirty="0"/>
          </a:p>
        </p:txBody>
      </p:sp>
      <p:sp>
        <p:nvSpPr>
          <p:cNvPr id="8" name="Text 5"/>
          <p:cNvSpPr/>
          <p:nvPr/>
        </p:nvSpPr>
        <p:spPr>
          <a:xfrm>
            <a:off x="1117600" y="3685541"/>
            <a:ext cx="2860324"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4BFCC"/>
                </a:solidFill>
                <a:latin typeface="IBM Plex Sans" pitchFamily="34" charset="0"/>
                <a:ea typeface="IBM Plex Sans" pitchFamily="34" charset="-122"/>
                <a:cs typeface="IBM Plex Sans" pitchFamily="34" charset="-120"/>
              </a:rPr>
              <a:t>Follows the gradient downhill. Fast on smooth landscapes; sensitive to start point and learning rate.</a:t>
            </a:r>
            <a:endParaRPr lang="en-US" sz="1400" dirty="0"/>
          </a:p>
        </p:txBody>
      </p:sp>
      <p:sp>
        <p:nvSpPr>
          <p:cNvPr id="9" name="Shape 6"/>
          <p:cNvSpPr/>
          <p:nvPr/>
        </p:nvSpPr>
        <p:spPr>
          <a:xfrm>
            <a:off x="4402614" y="2430780"/>
            <a:ext cx="3386693" cy="2306320"/>
          </a:xfrm>
          <a:prstGeom prst="roundRect">
            <a:avLst>
              <a:gd name="adj" fmla="val 4405"/>
            </a:avLst>
          </a:prstGeom>
          <a:solidFill>
            <a:srgbClr val="161E2D"/>
          </a:solidFill>
          <a:ln/>
        </p:spPr>
        <p:txBody>
          <a:bodyPr/>
          <a:lstStyle/>
          <a:p>
            <a:endParaRPr lang="en-GB"/>
          </a:p>
        </p:txBody>
      </p:sp>
      <p:sp>
        <p:nvSpPr>
          <p:cNvPr id="10" name="Shape 7"/>
          <p:cNvSpPr/>
          <p:nvPr/>
        </p:nvSpPr>
        <p:spPr>
          <a:xfrm>
            <a:off x="4402614" y="2430780"/>
            <a:ext cx="3386693" cy="2306320"/>
          </a:xfrm>
          <a:custGeom>
            <a:avLst/>
            <a:gdLst/>
            <a:ahLst/>
            <a:cxnLst/>
            <a:rect l="l" t="t" r="r" b="b"/>
            <a:pathLst>
              <a:path w="3386693" h="2306320">
                <a:moveTo>
                  <a:pt x="0" y="101600"/>
                </a:moveTo>
                <a:lnTo>
                  <a:pt x="0" y="101600"/>
                </a:lnTo>
                <a:arcTo wR="101600" hR="101600" stAng="10800000" swAng="5400000"/>
                <a:lnTo>
                  <a:pt x="3285093" y="0"/>
                </a:lnTo>
                <a:arcTo wR="101600" hR="101600" stAng="16200000" swAng="5400000"/>
                <a:lnTo>
                  <a:pt x="3386693" y="101600"/>
                </a:lnTo>
                <a:arcTo wR="101600" hR="63500" stAng="0" swAng="-5400000"/>
                <a:lnTo>
                  <a:pt x="101600" y="38100"/>
                </a:lnTo>
                <a:arcTo wR="101600" hR="63500" stAng="16200000" swAng="-5400000"/>
                <a:close/>
              </a:path>
            </a:pathLst>
          </a:custGeom>
          <a:solidFill>
            <a:srgbClr val="F2B35B"/>
          </a:solidFill>
          <a:ln/>
        </p:spPr>
        <p:txBody>
          <a:bodyPr/>
          <a:lstStyle/>
          <a:p>
            <a:endParaRPr lang="en-GB"/>
          </a:p>
        </p:txBody>
      </p:sp>
      <p:pic>
        <p:nvPicPr>
          <p:cNvPr id="11" name="Image 1" descr="Lightning"/>
          <p:cNvPicPr>
            <a:picLocks noChangeAspect="1"/>
          </p:cNvPicPr>
          <p:nvPr/>
        </p:nvPicPr>
        <p:blipFill>
          <a:blip r:embed="rId4"/>
          <a:srcRect/>
          <a:stretch/>
        </p:blipFill>
        <p:spPr>
          <a:xfrm>
            <a:off x="4707414" y="2771141"/>
            <a:ext cx="355600" cy="355600"/>
          </a:xfrm>
          <a:prstGeom prst="rect">
            <a:avLst/>
          </a:prstGeom>
        </p:spPr>
      </p:pic>
      <p:sp>
        <p:nvSpPr>
          <p:cNvPr id="12" name="Text 8"/>
          <p:cNvSpPr/>
          <p:nvPr/>
        </p:nvSpPr>
        <p:spPr>
          <a:xfrm>
            <a:off x="4707414" y="3253741"/>
            <a:ext cx="286040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EF1F5"/>
                </a:solidFill>
                <a:latin typeface="Space Grotesk" pitchFamily="34" charset="0"/>
                <a:ea typeface="Space Grotesk" pitchFamily="34" charset="-122"/>
                <a:cs typeface="Space Grotesk" pitchFamily="34" charset="-120"/>
              </a:rPr>
              <a:t>Simulated Annealing</a:t>
            </a:r>
            <a:endParaRPr lang="en-US" sz="2000" dirty="0"/>
          </a:p>
        </p:txBody>
      </p:sp>
      <p:sp>
        <p:nvSpPr>
          <p:cNvPr id="13" name="Text 9"/>
          <p:cNvSpPr/>
          <p:nvPr/>
        </p:nvSpPr>
        <p:spPr>
          <a:xfrm>
            <a:off x="4707414" y="3685541"/>
            <a:ext cx="2860406"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4BFCC"/>
                </a:solidFill>
                <a:latin typeface="IBM Plex Sans" pitchFamily="34" charset="0"/>
                <a:ea typeface="IBM Plex Sans" pitchFamily="34" charset="-122"/>
                <a:cs typeface="IBM Plex Sans" pitchFamily="34" charset="-120"/>
              </a:rPr>
              <a:t>Stochastic moves that sometimes go uphill, giving a chance to escape local minima.</a:t>
            </a:r>
            <a:endParaRPr lang="en-US" sz="1400" dirty="0"/>
          </a:p>
        </p:txBody>
      </p:sp>
      <p:sp>
        <p:nvSpPr>
          <p:cNvPr id="14" name="Shape 10"/>
          <p:cNvSpPr/>
          <p:nvPr/>
        </p:nvSpPr>
        <p:spPr>
          <a:xfrm>
            <a:off x="7992507" y="2430780"/>
            <a:ext cx="3386693" cy="2306320"/>
          </a:xfrm>
          <a:prstGeom prst="roundRect">
            <a:avLst>
              <a:gd name="adj" fmla="val 4405"/>
            </a:avLst>
          </a:prstGeom>
          <a:solidFill>
            <a:srgbClr val="161E2D"/>
          </a:solidFill>
          <a:ln/>
        </p:spPr>
        <p:txBody>
          <a:bodyPr/>
          <a:lstStyle/>
          <a:p>
            <a:endParaRPr lang="en-GB"/>
          </a:p>
        </p:txBody>
      </p:sp>
      <p:sp>
        <p:nvSpPr>
          <p:cNvPr id="15" name="Shape 11"/>
          <p:cNvSpPr/>
          <p:nvPr/>
        </p:nvSpPr>
        <p:spPr>
          <a:xfrm>
            <a:off x="7992507" y="2430780"/>
            <a:ext cx="3386693" cy="2306320"/>
          </a:xfrm>
          <a:custGeom>
            <a:avLst/>
            <a:gdLst/>
            <a:ahLst/>
            <a:cxnLst/>
            <a:rect l="l" t="t" r="r" b="b"/>
            <a:pathLst>
              <a:path w="3386693" h="2306320">
                <a:moveTo>
                  <a:pt x="0" y="101600"/>
                </a:moveTo>
                <a:lnTo>
                  <a:pt x="0" y="101600"/>
                </a:lnTo>
                <a:arcTo wR="101600" hR="101600" stAng="10800000" swAng="5400000"/>
                <a:lnTo>
                  <a:pt x="3285093" y="0"/>
                </a:lnTo>
                <a:arcTo wR="101600" hR="101600" stAng="16200000" swAng="5400000"/>
                <a:lnTo>
                  <a:pt x="3386693" y="101600"/>
                </a:lnTo>
                <a:arcTo wR="101600" hR="63500" stAng="0" swAng="-5400000"/>
                <a:lnTo>
                  <a:pt x="101600" y="38100"/>
                </a:lnTo>
                <a:arcTo wR="101600" hR="63500" stAng="16200000" swAng="-5400000"/>
                <a:close/>
              </a:path>
            </a:pathLst>
          </a:custGeom>
          <a:solidFill>
            <a:srgbClr val="8FA8FF"/>
          </a:solidFill>
          <a:ln/>
        </p:spPr>
        <p:txBody>
          <a:bodyPr/>
          <a:lstStyle/>
          <a:p>
            <a:endParaRPr lang="en-GB"/>
          </a:p>
        </p:txBody>
      </p:sp>
      <p:pic>
        <p:nvPicPr>
          <p:cNvPr id="16" name="Image 2" descr="Users"/>
          <p:cNvPicPr>
            <a:picLocks noChangeAspect="1"/>
          </p:cNvPicPr>
          <p:nvPr/>
        </p:nvPicPr>
        <p:blipFill>
          <a:blip r:embed="rId5"/>
          <a:srcRect/>
          <a:stretch/>
        </p:blipFill>
        <p:spPr>
          <a:xfrm>
            <a:off x="8297307" y="2771141"/>
            <a:ext cx="355600" cy="355600"/>
          </a:xfrm>
          <a:prstGeom prst="rect">
            <a:avLst/>
          </a:prstGeom>
        </p:spPr>
      </p:pic>
      <p:sp>
        <p:nvSpPr>
          <p:cNvPr id="17" name="Text 12"/>
          <p:cNvSpPr/>
          <p:nvPr/>
        </p:nvSpPr>
        <p:spPr>
          <a:xfrm>
            <a:off x="8297307" y="3253741"/>
            <a:ext cx="286040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EF1F5"/>
                </a:solidFill>
                <a:latin typeface="Space Grotesk" pitchFamily="34" charset="0"/>
                <a:ea typeface="Space Grotesk" pitchFamily="34" charset="-122"/>
                <a:cs typeface="Space Grotesk" pitchFamily="34" charset="-120"/>
              </a:rPr>
              <a:t>Genetic Algorithm</a:t>
            </a:r>
            <a:endParaRPr lang="en-US" sz="2000" dirty="0"/>
          </a:p>
        </p:txBody>
      </p:sp>
      <p:sp>
        <p:nvSpPr>
          <p:cNvPr id="18" name="Text 13"/>
          <p:cNvSpPr/>
          <p:nvPr/>
        </p:nvSpPr>
        <p:spPr>
          <a:xfrm>
            <a:off x="8297307" y="3685541"/>
            <a:ext cx="286040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4BFCC"/>
                </a:solidFill>
                <a:latin typeface="IBM Plex Sans" pitchFamily="34" charset="0"/>
                <a:ea typeface="IBM Plex Sans" pitchFamily="34" charset="-122"/>
                <a:cs typeface="IBM Plex Sans" pitchFamily="34" charset="-120"/>
              </a:rPr>
              <a:t>A population evolves through selection, crossover and mutation.</a:t>
            </a:r>
            <a:endParaRPr lang="en-US" sz="1400" dirty="0"/>
          </a:p>
        </p:txBody>
      </p:sp>
      <p:sp>
        <p:nvSpPr>
          <p:cNvPr id="19" name="Text 14"/>
          <p:cNvSpPr/>
          <p:nvPr/>
        </p:nvSpPr>
        <p:spPr>
          <a:xfrm>
            <a:off x="812800" y="5593082"/>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EF1F5"/>
                </a:solidFill>
                <a:latin typeface="IBM Plex Sans" pitchFamily="34" charset="0"/>
                <a:ea typeface="IBM Plex Sans" pitchFamily="34" charset="-122"/>
                <a:cs typeface="IBM Plex Sans" pitchFamily="34" charset="-120"/>
              </a:rPr>
              <a:t>Fair fights:</a:t>
            </a:r>
            <a:r>
              <a:rPr lang="en-US" sz="1400" dirty="0">
                <a:solidFill>
                  <a:srgbClr val="B4BFCC"/>
                </a:solidFill>
                <a:latin typeface="IBM Plex Sans" pitchFamily="34" charset="0"/>
                <a:ea typeface="IBM Plex Sans" pitchFamily="34" charset="-122"/>
                <a:cs typeface="IBM Plex Sans" pitchFamily="34" charset="-120"/>
              </a:rPr>
              <a:t> same objectives, comparable evaluation budgets, repeated random seeds.</a:t>
            </a:r>
            <a:endParaRPr lang="en-US" sz="1400" dirty="0"/>
          </a:p>
        </p:txBody>
      </p:sp>
      <p:sp>
        <p:nvSpPr>
          <p:cNvPr id="20" name="Text 15"/>
          <p:cNvSpPr/>
          <p:nvPr/>
        </p:nvSpPr>
        <p:spPr>
          <a:xfrm>
            <a:off x="812800" y="6238239"/>
            <a:ext cx="351129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391A4"/>
                </a:solidFill>
                <a:latin typeface="JetBrains Mono" pitchFamily="49" charset="0"/>
                <a:ea typeface="JetBrains Mono" pitchFamily="49" charset="-122"/>
                <a:cs typeface="JetBrains Mono" pitchFamily="49" charset="-120"/>
              </a:rPr>
              <a:t>Optimisation Arena · OxHack 2026</a:t>
            </a:r>
            <a:endParaRPr lang="en-US" sz="1200" dirty="0"/>
          </a:p>
        </p:txBody>
      </p:sp>
      <p:sp>
        <p:nvSpPr>
          <p:cNvPr id="21" name="Text 16"/>
          <p:cNvSpPr/>
          <p:nvPr/>
        </p:nvSpPr>
        <p:spPr>
          <a:xfrm>
            <a:off x="11145520" y="6238239"/>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391A4"/>
                </a:solidFill>
                <a:latin typeface="JetBrains Mono" pitchFamily="49" charset="0"/>
                <a:ea typeface="JetBrains Mono" pitchFamily="49" charset="-122"/>
                <a:cs typeface="JetBrains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42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4FD1C5"/>
                </a:solidFill>
                <a:latin typeface="JetBrains Mono" pitchFamily="49" charset="0"/>
                <a:ea typeface="JetBrains Mono" pitchFamily="49" charset="-122"/>
                <a:cs typeface="JetBrains Mono" pitchFamily="49" charset="-120"/>
              </a:rPr>
              <a:t>BUILT AND WORKING</a:t>
            </a:r>
            <a:endParaRPr lang="en-US" sz="1200" dirty="0"/>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EF1F5"/>
                </a:solidFill>
                <a:latin typeface="Space Grotesk" pitchFamily="34" charset="0"/>
                <a:ea typeface="Space Grotesk" pitchFamily="34" charset="-122"/>
                <a:cs typeface="Space Grotesk" pitchFamily="34" charset="-120"/>
              </a:rPr>
              <a:t>See the search happen</a:t>
            </a:r>
            <a:endParaRPr lang="en-US" sz="3200" dirty="0"/>
          </a:p>
        </p:txBody>
      </p:sp>
      <p:sp>
        <p:nvSpPr>
          <p:cNvPr id="4" name="Text 2"/>
          <p:cNvSpPr/>
          <p:nvPr/>
        </p:nvSpPr>
        <p:spPr>
          <a:xfrm>
            <a:off x="812800" y="2924175"/>
            <a:ext cx="366268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4BFCC"/>
                </a:solidFill>
                <a:latin typeface="IBM Plex Sans" pitchFamily="34" charset="0"/>
                <a:ea typeface="IBM Plex Sans" pitchFamily="34" charset="-122"/>
                <a:cs typeface="IBM Plex Sans" pitchFamily="34" charset="-120"/>
              </a:rPr>
              <a:t>Interactive Plotly views show:</a:t>
            </a:r>
            <a:endParaRPr lang="en-US" sz="1500" dirty="0"/>
          </a:p>
        </p:txBody>
      </p:sp>
      <p:sp>
        <p:nvSpPr>
          <p:cNvPr id="5" name="Text 3"/>
          <p:cNvSpPr/>
          <p:nvPr/>
        </p:nvSpPr>
        <p:spPr>
          <a:xfrm>
            <a:off x="883920" y="3368675"/>
            <a:ext cx="3583940" cy="1454150"/>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EEF1F5"/>
                </a:solidFill>
                <a:latin typeface="IBM Plex Sans" pitchFamily="34" charset="0"/>
                <a:ea typeface="IBM Plex Sans" pitchFamily="34" charset="-122"/>
                <a:cs typeface="IBM Plex Sans" pitchFamily="34" charset="-120"/>
              </a:rPr>
              <a:t>The shape of each objective function</a:t>
            </a:r>
            <a:endParaRPr lang="en-US" sz="1500" dirty="0"/>
          </a:p>
          <a:p>
            <a:pPr marL="182880" indent="-182880" algn="l">
              <a:lnSpc>
                <a:spcPts val="2250"/>
              </a:lnSpc>
              <a:buSzPct val="100000"/>
              <a:buChar char="•"/>
            </a:pPr>
            <a:r>
              <a:rPr lang="en-US" sz="1500" dirty="0">
                <a:solidFill>
                  <a:srgbClr val="EEF1F5"/>
                </a:solidFill>
                <a:latin typeface="IBM Plex Sans" pitchFamily="34" charset="0"/>
                <a:ea typeface="IBM Plex Sans" pitchFamily="34" charset="-122"/>
                <a:cs typeface="IBM Plex Sans" pitchFamily="34" charset="-120"/>
              </a:rPr>
              <a:t>Each algorithm’s path through the search space</a:t>
            </a:r>
            <a:endParaRPr lang="en-US" sz="1500" dirty="0"/>
          </a:p>
          <a:p>
            <a:pPr marL="182880" indent="-182880" algn="l">
              <a:lnSpc>
                <a:spcPts val="2250"/>
              </a:lnSpc>
              <a:buSzPct val="100000"/>
              <a:buChar char="•"/>
            </a:pPr>
            <a:r>
              <a:rPr lang="en-US" sz="1500" dirty="0">
                <a:solidFill>
                  <a:srgbClr val="EEF1F5"/>
                </a:solidFill>
                <a:latin typeface="IBM Plex Sans" pitchFamily="34" charset="0"/>
                <a:ea typeface="IBM Plex Sans" pitchFamily="34" charset="-122"/>
                <a:cs typeface="IBM Plex Sans" pitchFamily="34" charset="-120"/>
              </a:rPr>
              <a:t>Objective value over time</a:t>
            </a:r>
            <a:endParaRPr lang="en-US" sz="1500" dirty="0"/>
          </a:p>
          <a:p>
            <a:pPr marL="182880" indent="-182880" algn="l">
              <a:lnSpc>
                <a:spcPts val="2250"/>
              </a:lnSpc>
              <a:buSzPct val="100000"/>
              <a:buChar char="•"/>
            </a:pPr>
            <a:r>
              <a:rPr lang="en-US" sz="1500" dirty="0">
                <a:solidFill>
                  <a:srgbClr val="EEF1F5"/>
                </a:solidFill>
                <a:latin typeface="IBM Plex Sans" pitchFamily="34" charset="0"/>
                <a:ea typeface="IBM Plex Sans" pitchFamily="34" charset="-122"/>
                <a:cs typeface="IBM Plex Sans" pitchFamily="34" charset="-120"/>
              </a:rPr>
              <a:t>Convergence compared side by side</a:t>
            </a:r>
            <a:endParaRPr lang="en-US" sz="1500" dirty="0"/>
          </a:p>
        </p:txBody>
      </p:sp>
      <p:sp>
        <p:nvSpPr>
          <p:cNvPr id="7" name="Text 5"/>
          <p:cNvSpPr/>
          <p:nvPr/>
        </p:nvSpPr>
        <p:spPr>
          <a:xfrm>
            <a:off x="812800" y="6238239"/>
            <a:ext cx="351129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391A4"/>
                </a:solidFill>
                <a:latin typeface="JetBrains Mono" pitchFamily="49" charset="0"/>
                <a:ea typeface="JetBrains Mono" pitchFamily="49" charset="-122"/>
                <a:cs typeface="JetBrains Mono" pitchFamily="49" charset="-120"/>
              </a:rPr>
              <a:t>Optimisation Arena · OxHack 2026</a:t>
            </a:r>
            <a:endParaRPr lang="en-US" sz="1200" dirty="0"/>
          </a:p>
        </p:txBody>
      </p:sp>
      <p:sp>
        <p:nvSpPr>
          <p:cNvPr id="8" name="Text 6"/>
          <p:cNvSpPr/>
          <p:nvPr/>
        </p:nvSpPr>
        <p:spPr>
          <a:xfrm>
            <a:off x="11145520" y="6238239"/>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391A4"/>
                </a:solidFill>
                <a:latin typeface="JetBrains Mono" pitchFamily="49" charset="0"/>
                <a:ea typeface="JetBrains Mono" pitchFamily="49" charset="-122"/>
                <a:cs typeface="JetBrains Mono" pitchFamily="49" charset="-120"/>
              </a:rPr>
              <a:t>05</a:t>
            </a:r>
            <a:endParaRPr lang="en-US" sz="1200" dirty="0"/>
          </a:p>
        </p:txBody>
      </p:sp>
      <p:pic>
        <p:nvPicPr>
          <p:cNvPr id="10" name="Picture 9">
            <a:extLst>
              <a:ext uri="{FF2B5EF4-FFF2-40B4-BE49-F238E27FC236}">
                <a16:creationId xmlns:a16="http://schemas.microsoft.com/office/drawing/2014/main" id="{6EDC1831-10ED-0C63-0459-2A693E29BE5B}"/>
              </a:ext>
            </a:extLst>
          </p:cNvPr>
          <p:cNvPicPr>
            <a:picLocks noChangeAspect="1"/>
          </p:cNvPicPr>
          <p:nvPr/>
        </p:nvPicPr>
        <p:blipFill>
          <a:blip r:embed="rId3"/>
          <a:stretch>
            <a:fillRect/>
          </a:stretch>
        </p:blipFill>
        <p:spPr>
          <a:xfrm>
            <a:off x="6254496" y="1736079"/>
            <a:ext cx="4157057" cy="1911838"/>
          </a:xfrm>
          <a:prstGeom prst="rect">
            <a:avLst/>
          </a:prstGeom>
        </p:spPr>
      </p:pic>
      <p:pic>
        <p:nvPicPr>
          <p:cNvPr id="12" name="Picture 11">
            <a:extLst>
              <a:ext uri="{FF2B5EF4-FFF2-40B4-BE49-F238E27FC236}">
                <a16:creationId xmlns:a16="http://schemas.microsoft.com/office/drawing/2014/main" id="{90AD5CC6-13FC-37BD-7E58-96752BE020AF}"/>
              </a:ext>
            </a:extLst>
          </p:cNvPr>
          <p:cNvPicPr>
            <a:picLocks noChangeAspect="1"/>
          </p:cNvPicPr>
          <p:nvPr/>
        </p:nvPicPr>
        <p:blipFill>
          <a:blip r:embed="rId4"/>
          <a:stretch>
            <a:fillRect/>
          </a:stretch>
        </p:blipFill>
        <p:spPr>
          <a:xfrm>
            <a:off x="6246876" y="3647917"/>
            <a:ext cx="4157056" cy="172051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2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4FD1C5"/>
                </a:solidFill>
                <a:latin typeface="JetBrains Mono" pitchFamily="49" charset="0"/>
                <a:ea typeface="JetBrains Mono" pitchFamily="49" charset="-122"/>
                <a:cs typeface="JetBrains Mono" pitchFamily="49" charset="-120"/>
              </a:rPr>
              <a:t>THE ML EXTENSION</a:t>
            </a:r>
            <a:endParaRPr lang="en-US" sz="1200" dirty="0"/>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EF1F5"/>
                </a:solidFill>
                <a:latin typeface="Space Grotesk" pitchFamily="34" charset="0"/>
                <a:ea typeface="Space Grotesk" pitchFamily="34" charset="-122"/>
                <a:cs typeface="Space Grotesk" pitchFamily="34" charset="-120"/>
              </a:rPr>
              <a:t>Intelligent Algorithm Selector</a:t>
            </a:r>
            <a:endParaRPr lang="en-US" sz="3200" dirty="0"/>
          </a:p>
        </p:txBody>
      </p:sp>
      <p:sp>
        <p:nvSpPr>
          <p:cNvPr id="4" name="Text 2"/>
          <p:cNvSpPr/>
          <p:nvPr/>
        </p:nvSpPr>
        <p:spPr>
          <a:xfrm>
            <a:off x="812800" y="2481582"/>
            <a:ext cx="2747010"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8391A4"/>
                </a:solidFill>
                <a:latin typeface="JetBrains Mono" pitchFamily="49" charset="0"/>
                <a:ea typeface="JetBrains Mono" pitchFamily="49" charset="-122"/>
                <a:cs typeface="JetBrains Mono" pitchFamily="49" charset="-120"/>
              </a:rPr>
              <a:t>INPUTS</a:t>
            </a:r>
            <a:endParaRPr lang="en-US" sz="1200" dirty="0"/>
          </a:p>
        </p:txBody>
      </p:sp>
      <p:sp>
        <p:nvSpPr>
          <p:cNvPr id="5" name="Text 3"/>
          <p:cNvSpPr/>
          <p:nvPr/>
        </p:nvSpPr>
        <p:spPr>
          <a:xfrm>
            <a:off x="815975" y="2825114"/>
            <a:ext cx="2660650" cy="524510"/>
          </a:xfrm>
          <a:prstGeom prst="roundRect">
            <a:avLst>
              <a:gd name="adj" fmla="val 13923"/>
            </a:avLst>
          </a:prstGeom>
          <a:solidFill>
            <a:srgbClr val="161E2D"/>
          </a:solidFill>
          <a:ln w="6350">
            <a:solidFill>
              <a:srgbClr val="2A3548"/>
            </a:solidFill>
            <a:prstDash val="solid"/>
          </a:ln>
        </p:spPr>
        <p:txBody>
          <a:bodyPr wrap="square" lIns="158317" tIns="107517" rIns="89280" bIns="82117" rtlCol="0" anchor="t">
            <a:normAutofit/>
          </a:bodyPr>
          <a:lstStyle/>
          <a:p>
            <a:pPr marL="0" indent="0" algn="l">
              <a:lnSpc>
                <a:spcPts val="2100"/>
              </a:lnSpc>
              <a:buNone/>
            </a:pPr>
            <a:r>
              <a:rPr lang="en-US" sz="1500" dirty="0">
                <a:solidFill>
                  <a:srgbClr val="EEF1F5"/>
                </a:solidFill>
                <a:latin typeface="IBM Plex Sans" pitchFamily="34" charset="0"/>
                <a:ea typeface="IBM Plex Sans" pitchFamily="34" charset="-122"/>
                <a:cs typeface="IBM Plex Sans" pitchFamily="34" charset="-120"/>
              </a:rPr>
              <a:t>Benchmark function</a:t>
            </a:r>
            <a:endParaRPr lang="en-US" sz="1500" dirty="0"/>
          </a:p>
        </p:txBody>
      </p:sp>
      <p:sp>
        <p:nvSpPr>
          <p:cNvPr id="6" name="Text 4"/>
          <p:cNvSpPr/>
          <p:nvPr/>
        </p:nvSpPr>
        <p:spPr>
          <a:xfrm>
            <a:off x="815975" y="3482975"/>
            <a:ext cx="2660650" cy="524510"/>
          </a:xfrm>
          <a:prstGeom prst="roundRect">
            <a:avLst>
              <a:gd name="adj" fmla="val 13923"/>
            </a:avLst>
          </a:prstGeom>
          <a:solidFill>
            <a:srgbClr val="161E2D"/>
          </a:solidFill>
          <a:ln w="6350">
            <a:solidFill>
              <a:srgbClr val="2A3548"/>
            </a:solidFill>
            <a:prstDash val="solid"/>
          </a:ln>
        </p:spPr>
        <p:txBody>
          <a:bodyPr wrap="square" lIns="158317" tIns="107517" rIns="89280" bIns="82117" rtlCol="0" anchor="t">
            <a:normAutofit/>
          </a:bodyPr>
          <a:lstStyle/>
          <a:p>
            <a:pPr marL="0" indent="0" algn="l">
              <a:lnSpc>
                <a:spcPts val="2100"/>
              </a:lnSpc>
              <a:buNone/>
            </a:pPr>
            <a:r>
              <a:rPr lang="en-US" sz="1500" dirty="0">
                <a:solidFill>
                  <a:srgbClr val="EEF1F5"/>
                </a:solidFill>
                <a:latin typeface="IBM Plex Sans" pitchFamily="34" charset="0"/>
                <a:ea typeface="IBM Plex Sans" pitchFamily="34" charset="-122"/>
                <a:cs typeface="IBM Plex Sans" pitchFamily="34" charset="-120"/>
              </a:rPr>
              <a:t>Number of dimensions</a:t>
            </a:r>
            <a:endParaRPr lang="en-US" sz="1500" dirty="0"/>
          </a:p>
        </p:txBody>
      </p:sp>
      <p:sp>
        <p:nvSpPr>
          <p:cNvPr id="7" name="Text 5"/>
          <p:cNvSpPr/>
          <p:nvPr/>
        </p:nvSpPr>
        <p:spPr>
          <a:xfrm>
            <a:off x="815975" y="4140836"/>
            <a:ext cx="2660650" cy="524510"/>
          </a:xfrm>
          <a:prstGeom prst="roundRect">
            <a:avLst>
              <a:gd name="adj" fmla="val 13923"/>
            </a:avLst>
          </a:prstGeom>
          <a:solidFill>
            <a:srgbClr val="161E2D"/>
          </a:solidFill>
          <a:ln w="6350">
            <a:solidFill>
              <a:srgbClr val="2A3548"/>
            </a:solidFill>
            <a:prstDash val="solid"/>
          </a:ln>
        </p:spPr>
        <p:txBody>
          <a:bodyPr wrap="square" lIns="158317" tIns="107517" rIns="89280" bIns="82117" rtlCol="0" anchor="t">
            <a:normAutofit/>
          </a:bodyPr>
          <a:lstStyle/>
          <a:p>
            <a:pPr marL="0" indent="0" algn="l">
              <a:lnSpc>
                <a:spcPts val="2100"/>
              </a:lnSpc>
              <a:buNone/>
            </a:pPr>
            <a:r>
              <a:rPr lang="en-US" sz="1500" dirty="0">
                <a:solidFill>
                  <a:srgbClr val="EEF1F5"/>
                </a:solidFill>
                <a:latin typeface="IBM Plex Sans" pitchFamily="34" charset="0"/>
                <a:ea typeface="IBM Plex Sans" pitchFamily="34" charset="-122"/>
                <a:cs typeface="IBM Plex Sans" pitchFamily="34" charset="-120"/>
              </a:rPr>
              <a:t>Evaluation budget</a:t>
            </a:r>
            <a:endParaRPr lang="en-US" sz="1500" dirty="0"/>
          </a:p>
        </p:txBody>
      </p:sp>
      <p:pic>
        <p:nvPicPr>
          <p:cNvPr id="8" name="Image 0" descr="connector"/>
          <p:cNvPicPr>
            <a:picLocks noChangeAspect="1"/>
          </p:cNvPicPr>
          <p:nvPr/>
        </p:nvPicPr>
        <p:blipFill>
          <a:blip r:embed="rId3"/>
          <a:srcRect/>
          <a:stretch/>
        </p:blipFill>
        <p:spPr>
          <a:xfrm>
            <a:off x="3683000" y="3511550"/>
            <a:ext cx="609600" cy="127000"/>
          </a:xfrm>
          <a:prstGeom prst="rect">
            <a:avLst/>
          </a:prstGeom>
        </p:spPr>
      </p:pic>
      <p:sp>
        <p:nvSpPr>
          <p:cNvPr id="9" name="Shape 6"/>
          <p:cNvSpPr/>
          <p:nvPr/>
        </p:nvSpPr>
        <p:spPr>
          <a:xfrm>
            <a:off x="4502150" y="2534921"/>
            <a:ext cx="3060700" cy="2080260"/>
          </a:xfrm>
          <a:prstGeom prst="roundRect">
            <a:avLst>
              <a:gd name="adj" fmla="val 4579"/>
            </a:avLst>
          </a:prstGeom>
          <a:solidFill>
            <a:srgbClr val="162A30"/>
          </a:solidFill>
          <a:ln w="12700">
            <a:solidFill>
              <a:srgbClr val="4FD1C5"/>
            </a:solidFill>
            <a:prstDash val="solid"/>
          </a:ln>
        </p:spPr>
        <p:txBody>
          <a:bodyPr/>
          <a:lstStyle/>
          <a:p>
            <a:endParaRPr lang="en-GB"/>
          </a:p>
        </p:txBody>
      </p:sp>
      <p:pic>
        <p:nvPicPr>
          <p:cNvPr id="10" name="Image 1" descr="Database"/>
          <p:cNvPicPr>
            <a:picLocks noChangeAspect="1"/>
          </p:cNvPicPr>
          <p:nvPr/>
        </p:nvPicPr>
        <p:blipFill>
          <a:blip r:embed="rId4"/>
          <a:srcRect/>
          <a:stretch/>
        </p:blipFill>
        <p:spPr>
          <a:xfrm>
            <a:off x="5829300" y="2843532"/>
            <a:ext cx="406400" cy="406400"/>
          </a:xfrm>
          <a:prstGeom prst="rect">
            <a:avLst/>
          </a:prstGeom>
        </p:spPr>
      </p:pic>
      <p:sp>
        <p:nvSpPr>
          <p:cNvPr id="11" name="Text 7"/>
          <p:cNvSpPr/>
          <p:nvPr/>
        </p:nvSpPr>
        <p:spPr>
          <a:xfrm>
            <a:off x="5063625" y="3376932"/>
            <a:ext cx="1937671" cy="330200"/>
          </a:xfrm>
          <a:prstGeom prst="rect">
            <a:avLst/>
          </a:prstGeom>
          <a:noFill/>
          <a:ln/>
        </p:spPr>
        <p:txBody>
          <a:bodyPr wrap="square" lIns="0" tIns="0" rIns="0" bIns="0" rtlCol="0" anchor="t">
            <a:normAutofit/>
          </a:bodyPr>
          <a:lstStyle/>
          <a:p>
            <a:pPr marL="0" indent="0" algn="ctr">
              <a:lnSpc>
                <a:spcPts val="2400"/>
              </a:lnSpc>
              <a:buNone/>
            </a:pPr>
            <a:r>
              <a:rPr lang="en-US" sz="2000" b="1" dirty="0">
                <a:solidFill>
                  <a:srgbClr val="EEF1F5"/>
                </a:solidFill>
                <a:latin typeface="Space Grotesk" pitchFamily="34" charset="0"/>
                <a:ea typeface="Space Grotesk" pitchFamily="34" charset="-122"/>
                <a:cs typeface="Space Grotesk" pitchFamily="34" charset="-120"/>
              </a:rPr>
              <a:t>Decision tree</a:t>
            </a:r>
            <a:endParaRPr lang="en-US" sz="2000" dirty="0"/>
          </a:p>
        </p:txBody>
      </p:sp>
      <p:sp>
        <p:nvSpPr>
          <p:cNvPr id="12" name="Text 8"/>
          <p:cNvSpPr/>
          <p:nvPr/>
        </p:nvSpPr>
        <p:spPr>
          <a:xfrm>
            <a:off x="4774108" y="3808732"/>
            <a:ext cx="2516785" cy="523240"/>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B4BFCC"/>
                </a:solidFill>
                <a:latin typeface="IBM Plex Sans" pitchFamily="34" charset="0"/>
                <a:ea typeface="IBM Plex Sans" pitchFamily="34" charset="-122"/>
                <a:cs typeface="IBM Plex Sans" pitchFamily="34" charset="-120"/>
              </a:rPr>
              <a:t>Trained with scikit-learn on real experiment records</a:t>
            </a:r>
            <a:endParaRPr lang="en-US" sz="1400" dirty="0"/>
          </a:p>
        </p:txBody>
      </p:sp>
      <p:pic>
        <p:nvPicPr>
          <p:cNvPr id="13" name="Image 2" descr="connector"/>
          <p:cNvPicPr>
            <a:picLocks noChangeAspect="1"/>
          </p:cNvPicPr>
          <p:nvPr/>
        </p:nvPicPr>
        <p:blipFill>
          <a:blip r:embed="rId3"/>
          <a:srcRect/>
          <a:stretch/>
        </p:blipFill>
        <p:spPr>
          <a:xfrm>
            <a:off x="7772400" y="3511550"/>
            <a:ext cx="609600" cy="127000"/>
          </a:xfrm>
          <a:prstGeom prst="rect">
            <a:avLst/>
          </a:prstGeom>
        </p:spPr>
      </p:pic>
      <p:sp>
        <p:nvSpPr>
          <p:cNvPr id="14" name="Shape 9"/>
          <p:cNvSpPr/>
          <p:nvPr/>
        </p:nvSpPr>
        <p:spPr>
          <a:xfrm>
            <a:off x="8585200" y="2663189"/>
            <a:ext cx="2794000" cy="1823720"/>
          </a:xfrm>
          <a:prstGeom prst="roundRect">
            <a:avLst>
              <a:gd name="adj" fmla="val 5571"/>
            </a:avLst>
          </a:prstGeom>
          <a:solidFill>
            <a:srgbClr val="161E2D"/>
          </a:solidFill>
          <a:ln/>
        </p:spPr>
        <p:txBody>
          <a:bodyPr/>
          <a:lstStyle/>
          <a:p>
            <a:endParaRPr lang="en-GB"/>
          </a:p>
        </p:txBody>
      </p:sp>
      <p:sp>
        <p:nvSpPr>
          <p:cNvPr id="15" name="Shape 10"/>
          <p:cNvSpPr/>
          <p:nvPr/>
        </p:nvSpPr>
        <p:spPr>
          <a:xfrm>
            <a:off x="8585200" y="2663189"/>
            <a:ext cx="2794000" cy="1823720"/>
          </a:xfrm>
          <a:custGeom>
            <a:avLst/>
            <a:gdLst/>
            <a:ahLst/>
            <a:cxnLst/>
            <a:rect l="l" t="t" r="r" b="b"/>
            <a:pathLst>
              <a:path w="2794000" h="1823720">
                <a:moveTo>
                  <a:pt x="0" y="101600"/>
                </a:moveTo>
                <a:lnTo>
                  <a:pt x="0" y="101600"/>
                </a:lnTo>
                <a:arcTo wR="101600" hR="101600" stAng="10800000" swAng="5400000"/>
                <a:lnTo>
                  <a:pt x="2692400" y="0"/>
                </a:lnTo>
                <a:arcTo wR="101600" hR="101600" stAng="16200000" swAng="5400000"/>
                <a:lnTo>
                  <a:pt x="2794000" y="101600"/>
                </a:lnTo>
                <a:arcTo wR="101600" hR="63500" stAng="0" swAng="-5400000"/>
                <a:lnTo>
                  <a:pt x="101600" y="38100"/>
                </a:lnTo>
                <a:arcTo wR="101600" hR="63500" stAng="16200000" swAng="-5400000"/>
                <a:close/>
              </a:path>
            </a:pathLst>
          </a:custGeom>
          <a:solidFill>
            <a:srgbClr val="F2B35B"/>
          </a:solidFill>
          <a:ln/>
        </p:spPr>
        <p:txBody>
          <a:bodyPr/>
          <a:lstStyle/>
          <a:p>
            <a:endParaRPr lang="en-GB"/>
          </a:p>
        </p:txBody>
      </p:sp>
      <p:sp>
        <p:nvSpPr>
          <p:cNvPr id="16" name="Text 11"/>
          <p:cNvSpPr/>
          <p:nvPr/>
        </p:nvSpPr>
        <p:spPr>
          <a:xfrm>
            <a:off x="8890000" y="3003550"/>
            <a:ext cx="24892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EF1F5"/>
                </a:solidFill>
                <a:latin typeface="Space Grotesk" pitchFamily="34" charset="0"/>
                <a:ea typeface="Space Grotesk" pitchFamily="34" charset="-122"/>
                <a:cs typeface="Space Grotesk" pitchFamily="34" charset="-120"/>
              </a:rPr>
              <a:t>Recommendation</a:t>
            </a:r>
            <a:endParaRPr lang="en-US" sz="2000" dirty="0"/>
          </a:p>
        </p:txBody>
      </p:sp>
      <p:sp>
        <p:nvSpPr>
          <p:cNvPr id="17" name="Text 12"/>
          <p:cNvSpPr/>
          <p:nvPr/>
        </p:nvSpPr>
        <p:spPr>
          <a:xfrm>
            <a:off x="8890000" y="3435350"/>
            <a:ext cx="224993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4BFCC"/>
                </a:solidFill>
                <a:latin typeface="IBM Plex Sans" pitchFamily="34" charset="0"/>
                <a:ea typeface="IBM Plex Sans" pitchFamily="34" charset="-122"/>
                <a:cs typeface="IBM Plex Sans" pitchFamily="34" charset="-120"/>
              </a:rPr>
              <a:t>Predicted algorithm plus the decision path that explains it</a:t>
            </a:r>
            <a:endParaRPr lang="en-US" sz="1400" dirty="0"/>
          </a:p>
        </p:txBody>
      </p:sp>
      <p:sp>
        <p:nvSpPr>
          <p:cNvPr id="18" name="Text 13"/>
          <p:cNvSpPr/>
          <p:nvPr/>
        </p:nvSpPr>
        <p:spPr>
          <a:xfrm>
            <a:off x="812800" y="55753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4BFCC"/>
                </a:solidFill>
                <a:latin typeface="IBM Plex Sans" pitchFamily="34" charset="0"/>
                <a:ea typeface="IBM Plex Sans" pitchFamily="34" charset="-122"/>
                <a:cs typeface="IBM Plex Sans" pitchFamily="34" charset="-120"/>
              </a:rPr>
              <a:t>The model learns from historical runs, recommends an algorithm, then gets tested against real outcomes.</a:t>
            </a:r>
            <a:endParaRPr lang="en-US" sz="1500" dirty="0"/>
          </a:p>
        </p:txBody>
      </p:sp>
      <p:sp>
        <p:nvSpPr>
          <p:cNvPr id="19" name="Text 14"/>
          <p:cNvSpPr/>
          <p:nvPr/>
        </p:nvSpPr>
        <p:spPr>
          <a:xfrm>
            <a:off x="812800" y="6238239"/>
            <a:ext cx="351129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391A4"/>
                </a:solidFill>
                <a:latin typeface="JetBrains Mono" pitchFamily="49" charset="0"/>
                <a:ea typeface="JetBrains Mono" pitchFamily="49" charset="-122"/>
                <a:cs typeface="JetBrains Mono" pitchFamily="49" charset="-120"/>
              </a:rPr>
              <a:t>Optimisation Arena · OxHack 2026</a:t>
            </a:r>
            <a:endParaRPr lang="en-US" sz="1200" dirty="0"/>
          </a:p>
        </p:txBody>
      </p:sp>
      <p:sp>
        <p:nvSpPr>
          <p:cNvPr id="20" name="Text 15"/>
          <p:cNvSpPr/>
          <p:nvPr/>
        </p:nvSpPr>
        <p:spPr>
          <a:xfrm>
            <a:off x="11145520" y="6238239"/>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391A4"/>
                </a:solidFill>
                <a:latin typeface="JetBrains Mono" pitchFamily="49" charset="0"/>
                <a:ea typeface="JetBrains Mono" pitchFamily="49" charset="-122"/>
                <a:cs typeface="JetBrains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2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F7C73"/>
                </a:solidFill>
                <a:latin typeface="JetBrains Mono" pitchFamily="49" charset="0"/>
                <a:ea typeface="JetBrains Mono" pitchFamily="49" charset="-122"/>
                <a:cs typeface="JetBrains Mono" pitchFamily="49" charset="-120"/>
              </a:rPr>
              <a:t>FROM RUNS TO A MODEL</a:t>
            </a:r>
            <a:endParaRPr lang="en-US" sz="1200" dirty="0"/>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E1420"/>
                </a:solidFill>
                <a:latin typeface="Space Grotesk" pitchFamily="34" charset="0"/>
                <a:ea typeface="Space Grotesk" pitchFamily="34" charset="-122"/>
                <a:cs typeface="Space Grotesk" pitchFamily="34" charset="-120"/>
              </a:rPr>
              <a:t>The training pipeline</a:t>
            </a:r>
            <a:endParaRPr lang="en-US" sz="3200" dirty="0"/>
          </a:p>
        </p:txBody>
      </p:sp>
      <p:sp>
        <p:nvSpPr>
          <p:cNvPr id="4" name="Shape 2"/>
          <p:cNvSpPr/>
          <p:nvPr/>
        </p:nvSpPr>
        <p:spPr>
          <a:xfrm>
            <a:off x="815975" y="2169161"/>
            <a:ext cx="2520950" cy="1455420"/>
          </a:xfrm>
          <a:prstGeom prst="roundRect">
            <a:avLst>
              <a:gd name="adj" fmla="val 5017"/>
            </a:avLst>
          </a:prstGeom>
          <a:solidFill>
            <a:srgbClr val="FBFBF8"/>
          </a:solidFill>
          <a:ln w="6350">
            <a:solidFill>
              <a:srgbClr val="DAD8D0"/>
            </a:solidFill>
            <a:prstDash val="solid"/>
          </a:ln>
        </p:spPr>
        <p:txBody>
          <a:bodyPr/>
          <a:lstStyle/>
          <a:p>
            <a:endParaRPr lang="en-GB"/>
          </a:p>
        </p:txBody>
      </p:sp>
      <p:sp>
        <p:nvSpPr>
          <p:cNvPr id="5" name="Text 3"/>
          <p:cNvSpPr/>
          <p:nvPr/>
        </p:nvSpPr>
        <p:spPr>
          <a:xfrm>
            <a:off x="1021080" y="2374264"/>
            <a:ext cx="217406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7C73"/>
                </a:solidFill>
                <a:latin typeface="JetBrains Mono" pitchFamily="49" charset="0"/>
                <a:ea typeface="JetBrains Mono" pitchFamily="49" charset="-122"/>
                <a:cs typeface="JetBrains Mono" pitchFamily="49" charset="-120"/>
              </a:rPr>
              <a:t>01</a:t>
            </a:r>
            <a:endParaRPr lang="en-US" sz="1400" dirty="0"/>
          </a:p>
        </p:txBody>
      </p:sp>
      <p:sp>
        <p:nvSpPr>
          <p:cNvPr id="6" name="Text 4"/>
          <p:cNvSpPr/>
          <p:nvPr/>
        </p:nvSpPr>
        <p:spPr>
          <a:xfrm>
            <a:off x="1021080" y="2699386"/>
            <a:ext cx="2174062"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E1420"/>
                </a:solidFill>
                <a:latin typeface="IBM Plex Sans" pitchFamily="34" charset="0"/>
                <a:ea typeface="IBM Plex Sans" pitchFamily="34" charset="-122"/>
                <a:cs typeface="IBM Plex Sans" pitchFamily="34" charset="-120"/>
              </a:rPr>
              <a:t>Load real experiment records</a:t>
            </a:r>
            <a:endParaRPr lang="en-US" sz="1400" dirty="0"/>
          </a:p>
        </p:txBody>
      </p:sp>
      <p:sp>
        <p:nvSpPr>
          <p:cNvPr id="7" name="Shape 5"/>
          <p:cNvSpPr/>
          <p:nvPr/>
        </p:nvSpPr>
        <p:spPr>
          <a:xfrm>
            <a:off x="3495675" y="2169161"/>
            <a:ext cx="2520950" cy="1455420"/>
          </a:xfrm>
          <a:prstGeom prst="roundRect">
            <a:avLst>
              <a:gd name="adj" fmla="val 5017"/>
            </a:avLst>
          </a:prstGeom>
          <a:solidFill>
            <a:srgbClr val="FBFBF8"/>
          </a:solidFill>
          <a:ln w="6350">
            <a:solidFill>
              <a:srgbClr val="DAD8D0"/>
            </a:solidFill>
            <a:prstDash val="solid"/>
          </a:ln>
        </p:spPr>
        <p:txBody>
          <a:bodyPr/>
          <a:lstStyle/>
          <a:p>
            <a:endParaRPr lang="en-GB"/>
          </a:p>
        </p:txBody>
      </p:sp>
      <p:sp>
        <p:nvSpPr>
          <p:cNvPr id="8" name="Text 6"/>
          <p:cNvSpPr/>
          <p:nvPr/>
        </p:nvSpPr>
        <p:spPr>
          <a:xfrm>
            <a:off x="3700780" y="2374264"/>
            <a:ext cx="217406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7C73"/>
                </a:solidFill>
                <a:latin typeface="JetBrains Mono" pitchFamily="49" charset="0"/>
                <a:ea typeface="JetBrains Mono" pitchFamily="49" charset="-122"/>
                <a:cs typeface="JetBrains Mono" pitchFamily="49" charset="-120"/>
              </a:rPr>
              <a:t>02</a:t>
            </a:r>
            <a:endParaRPr lang="en-US" sz="1400" dirty="0"/>
          </a:p>
        </p:txBody>
      </p:sp>
      <p:sp>
        <p:nvSpPr>
          <p:cNvPr id="9" name="Text 7"/>
          <p:cNvSpPr/>
          <p:nvPr/>
        </p:nvSpPr>
        <p:spPr>
          <a:xfrm>
            <a:off x="3700780" y="2699386"/>
            <a:ext cx="2174062"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E1420"/>
                </a:solidFill>
                <a:latin typeface="IBM Plex Sans" pitchFamily="34" charset="0"/>
                <a:ea typeface="IBM Plex Sans" pitchFamily="34" charset="-122"/>
                <a:cs typeface="IBM Plex Sans" pitchFamily="34" charset="-120"/>
              </a:rPr>
              <a:t>Validate and prepare the data</a:t>
            </a:r>
            <a:endParaRPr lang="en-US" sz="1400" dirty="0"/>
          </a:p>
        </p:txBody>
      </p:sp>
      <p:sp>
        <p:nvSpPr>
          <p:cNvPr id="10" name="Shape 8"/>
          <p:cNvSpPr/>
          <p:nvPr/>
        </p:nvSpPr>
        <p:spPr>
          <a:xfrm>
            <a:off x="6175375" y="2169161"/>
            <a:ext cx="2520950" cy="1455420"/>
          </a:xfrm>
          <a:prstGeom prst="roundRect">
            <a:avLst>
              <a:gd name="adj" fmla="val 5017"/>
            </a:avLst>
          </a:prstGeom>
          <a:solidFill>
            <a:srgbClr val="FBFBF8"/>
          </a:solidFill>
          <a:ln w="6350">
            <a:solidFill>
              <a:srgbClr val="DAD8D0"/>
            </a:solidFill>
            <a:prstDash val="solid"/>
          </a:ln>
        </p:spPr>
        <p:txBody>
          <a:bodyPr/>
          <a:lstStyle/>
          <a:p>
            <a:endParaRPr lang="en-GB"/>
          </a:p>
        </p:txBody>
      </p:sp>
      <p:sp>
        <p:nvSpPr>
          <p:cNvPr id="11" name="Text 9"/>
          <p:cNvSpPr/>
          <p:nvPr/>
        </p:nvSpPr>
        <p:spPr>
          <a:xfrm>
            <a:off x="6380480" y="2374264"/>
            <a:ext cx="217406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7C73"/>
                </a:solidFill>
                <a:latin typeface="JetBrains Mono" pitchFamily="49" charset="0"/>
                <a:ea typeface="JetBrains Mono" pitchFamily="49" charset="-122"/>
                <a:cs typeface="JetBrains Mono" pitchFamily="49" charset="-120"/>
              </a:rPr>
              <a:t>03</a:t>
            </a:r>
            <a:endParaRPr lang="en-US" sz="1400" dirty="0"/>
          </a:p>
        </p:txBody>
      </p:sp>
      <p:sp>
        <p:nvSpPr>
          <p:cNvPr id="12" name="Text 10"/>
          <p:cNvSpPr/>
          <p:nvPr/>
        </p:nvSpPr>
        <p:spPr>
          <a:xfrm>
            <a:off x="6380480" y="2699386"/>
            <a:ext cx="2174062" cy="74549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E1420"/>
                </a:solidFill>
                <a:latin typeface="IBM Plex Sans" pitchFamily="34" charset="0"/>
                <a:ea typeface="IBM Plex Sans" pitchFamily="34" charset="-122"/>
                <a:cs typeface="IBM Plex Sans" pitchFamily="34" charset="-120"/>
              </a:rPr>
              <a:t>Label the winner: lowest final objective, seeds aggregated</a:t>
            </a:r>
            <a:endParaRPr lang="en-US" sz="1400" dirty="0"/>
          </a:p>
        </p:txBody>
      </p:sp>
      <p:sp>
        <p:nvSpPr>
          <p:cNvPr id="13" name="Shape 11"/>
          <p:cNvSpPr/>
          <p:nvPr/>
        </p:nvSpPr>
        <p:spPr>
          <a:xfrm>
            <a:off x="8855075" y="2169161"/>
            <a:ext cx="2520950" cy="1455420"/>
          </a:xfrm>
          <a:prstGeom prst="roundRect">
            <a:avLst>
              <a:gd name="adj" fmla="val 5017"/>
            </a:avLst>
          </a:prstGeom>
          <a:solidFill>
            <a:srgbClr val="FBFBF8"/>
          </a:solidFill>
          <a:ln w="6350">
            <a:solidFill>
              <a:srgbClr val="DAD8D0"/>
            </a:solidFill>
            <a:prstDash val="solid"/>
          </a:ln>
        </p:spPr>
        <p:txBody>
          <a:bodyPr/>
          <a:lstStyle/>
          <a:p>
            <a:endParaRPr lang="en-GB"/>
          </a:p>
        </p:txBody>
      </p:sp>
      <p:sp>
        <p:nvSpPr>
          <p:cNvPr id="14" name="Text 12"/>
          <p:cNvSpPr/>
          <p:nvPr/>
        </p:nvSpPr>
        <p:spPr>
          <a:xfrm>
            <a:off x="9060180" y="2374264"/>
            <a:ext cx="217406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7C73"/>
                </a:solidFill>
                <a:latin typeface="JetBrains Mono" pitchFamily="49" charset="0"/>
                <a:ea typeface="JetBrains Mono" pitchFamily="49" charset="-122"/>
                <a:cs typeface="JetBrains Mono" pitchFamily="49" charset="-120"/>
              </a:rPr>
              <a:t>04</a:t>
            </a:r>
            <a:endParaRPr lang="en-US" sz="1400" dirty="0"/>
          </a:p>
        </p:txBody>
      </p:sp>
      <p:sp>
        <p:nvSpPr>
          <p:cNvPr id="15" name="Text 13"/>
          <p:cNvSpPr/>
          <p:nvPr/>
        </p:nvSpPr>
        <p:spPr>
          <a:xfrm>
            <a:off x="9060180" y="2699386"/>
            <a:ext cx="2174062"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E1420"/>
                </a:solidFill>
                <a:latin typeface="IBM Plex Sans" pitchFamily="34" charset="0"/>
                <a:ea typeface="IBM Plex Sans" pitchFamily="34" charset="-122"/>
                <a:cs typeface="IBM Plex Sans" pitchFamily="34" charset="-120"/>
              </a:rPr>
              <a:t>Split train and held-out sets by configuration</a:t>
            </a:r>
            <a:endParaRPr lang="en-US" sz="1400" dirty="0"/>
          </a:p>
        </p:txBody>
      </p:sp>
      <p:sp>
        <p:nvSpPr>
          <p:cNvPr id="16" name="Shape 14"/>
          <p:cNvSpPr/>
          <p:nvPr/>
        </p:nvSpPr>
        <p:spPr>
          <a:xfrm>
            <a:off x="815975" y="3783332"/>
            <a:ext cx="2520950" cy="1215390"/>
          </a:xfrm>
          <a:prstGeom prst="roundRect">
            <a:avLst>
              <a:gd name="adj" fmla="val 6008"/>
            </a:avLst>
          </a:prstGeom>
          <a:solidFill>
            <a:srgbClr val="FBFBF8"/>
          </a:solidFill>
          <a:ln w="6350">
            <a:solidFill>
              <a:srgbClr val="DAD8D0"/>
            </a:solidFill>
            <a:prstDash val="solid"/>
          </a:ln>
        </p:spPr>
        <p:txBody>
          <a:bodyPr/>
          <a:lstStyle/>
          <a:p>
            <a:endParaRPr lang="en-GB"/>
          </a:p>
        </p:txBody>
      </p:sp>
      <p:sp>
        <p:nvSpPr>
          <p:cNvPr id="17" name="Text 15"/>
          <p:cNvSpPr/>
          <p:nvPr/>
        </p:nvSpPr>
        <p:spPr>
          <a:xfrm>
            <a:off x="1021080" y="3988436"/>
            <a:ext cx="217406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7C73"/>
                </a:solidFill>
                <a:latin typeface="JetBrains Mono" pitchFamily="49" charset="0"/>
                <a:ea typeface="JetBrains Mono" pitchFamily="49" charset="-122"/>
                <a:cs typeface="JetBrains Mono" pitchFamily="49" charset="-120"/>
              </a:rPr>
              <a:t>05</a:t>
            </a:r>
            <a:endParaRPr lang="en-US" sz="1400" dirty="0"/>
          </a:p>
        </p:txBody>
      </p:sp>
      <p:sp>
        <p:nvSpPr>
          <p:cNvPr id="18" name="Text 16"/>
          <p:cNvSpPr/>
          <p:nvPr/>
        </p:nvSpPr>
        <p:spPr>
          <a:xfrm>
            <a:off x="1021080" y="4313557"/>
            <a:ext cx="2174062"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E1420"/>
                </a:solidFill>
                <a:latin typeface="IBM Plex Sans" pitchFamily="34" charset="0"/>
                <a:ea typeface="IBM Plex Sans" pitchFamily="34" charset="-122"/>
                <a:cs typeface="IBM Plex Sans" pitchFamily="34" charset="-120"/>
              </a:rPr>
              <a:t>Train and save the tree with its preprocessing</a:t>
            </a:r>
            <a:endParaRPr lang="en-US" sz="1400" dirty="0"/>
          </a:p>
        </p:txBody>
      </p:sp>
      <p:sp>
        <p:nvSpPr>
          <p:cNvPr id="19" name="Shape 17"/>
          <p:cNvSpPr/>
          <p:nvPr/>
        </p:nvSpPr>
        <p:spPr>
          <a:xfrm>
            <a:off x="3495675" y="3783332"/>
            <a:ext cx="2520950" cy="1215390"/>
          </a:xfrm>
          <a:prstGeom prst="roundRect">
            <a:avLst>
              <a:gd name="adj" fmla="val 6008"/>
            </a:avLst>
          </a:prstGeom>
          <a:solidFill>
            <a:srgbClr val="FBFBF8"/>
          </a:solidFill>
          <a:ln w="6350">
            <a:solidFill>
              <a:srgbClr val="DAD8D0"/>
            </a:solidFill>
            <a:prstDash val="solid"/>
          </a:ln>
        </p:spPr>
        <p:txBody>
          <a:bodyPr/>
          <a:lstStyle/>
          <a:p>
            <a:endParaRPr lang="en-GB"/>
          </a:p>
        </p:txBody>
      </p:sp>
      <p:sp>
        <p:nvSpPr>
          <p:cNvPr id="20" name="Text 18"/>
          <p:cNvSpPr/>
          <p:nvPr/>
        </p:nvSpPr>
        <p:spPr>
          <a:xfrm>
            <a:off x="3700780" y="3988436"/>
            <a:ext cx="217406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7C73"/>
                </a:solidFill>
                <a:latin typeface="JetBrains Mono" pitchFamily="49" charset="0"/>
                <a:ea typeface="JetBrains Mono" pitchFamily="49" charset="-122"/>
                <a:cs typeface="JetBrains Mono" pitchFamily="49" charset="-120"/>
              </a:rPr>
              <a:t>06</a:t>
            </a:r>
            <a:endParaRPr lang="en-US" sz="1400" dirty="0"/>
          </a:p>
        </p:txBody>
      </p:sp>
      <p:sp>
        <p:nvSpPr>
          <p:cNvPr id="21" name="Text 19"/>
          <p:cNvSpPr/>
          <p:nvPr/>
        </p:nvSpPr>
        <p:spPr>
          <a:xfrm>
            <a:off x="3700780" y="4313557"/>
            <a:ext cx="2312670"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E1420"/>
                </a:solidFill>
                <a:latin typeface="IBM Plex Sans" pitchFamily="34" charset="0"/>
                <a:ea typeface="IBM Plex Sans" pitchFamily="34" charset="-122"/>
                <a:cs typeface="IBM Plex Sans" pitchFamily="34" charset="-120"/>
              </a:rPr>
              <a:t>Evaluate on held-out data</a:t>
            </a:r>
            <a:endParaRPr lang="en-US" sz="1400" dirty="0"/>
          </a:p>
        </p:txBody>
      </p:sp>
      <p:sp>
        <p:nvSpPr>
          <p:cNvPr id="22" name="Shape 20"/>
          <p:cNvSpPr/>
          <p:nvPr/>
        </p:nvSpPr>
        <p:spPr>
          <a:xfrm>
            <a:off x="6175375" y="3783332"/>
            <a:ext cx="2520950" cy="1215390"/>
          </a:xfrm>
          <a:prstGeom prst="roundRect">
            <a:avLst>
              <a:gd name="adj" fmla="val 6008"/>
            </a:avLst>
          </a:prstGeom>
          <a:solidFill>
            <a:srgbClr val="FBFBF8"/>
          </a:solidFill>
          <a:ln w="6350">
            <a:solidFill>
              <a:srgbClr val="DAD8D0"/>
            </a:solidFill>
            <a:prstDash val="solid"/>
          </a:ln>
        </p:spPr>
        <p:txBody>
          <a:bodyPr/>
          <a:lstStyle/>
          <a:p>
            <a:endParaRPr lang="en-GB"/>
          </a:p>
        </p:txBody>
      </p:sp>
      <p:sp>
        <p:nvSpPr>
          <p:cNvPr id="23" name="Text 21"/>
          <p:cNvSpPr/>
          <p:nvPr/>
        </p:nvSpPr>
        <p:spPr>
          <a:xfrm>
            <a:off x="6380480" y="3988436"/>
            <a:ext cx="217406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7C73"/>
                </a:solidFill>
                <a:latin typeface="JetBrains Mono" pitchFamily="49" charset="0"/>
                <a:ea typeface="JetBrains Mono" pitchFamily="49" charset="-122"/>
                <a:cs typeface="JetBrains Mono" pitchFamily="49" charset="-120"/>
              </a:rPr>
              <a:t>07</a:t>
            </a:r>
            <a:endParaRPr lang="en-US" sz="1400" dirty="0"/>
          </a:p>
        </p:txBody>
      </p:sp>
      <p:sp>
        <p:nvSpPr>
          <p:cNvPr id="24" name="Text 22"/>
          <p:cNvSpPr/>
          <p:nvPr/>
        </p:nvSpPr>
        <p:spPr>
          <a:xfrm>
            <a:off x="6380480" y="4313557"/>
            <a:ext cx="2174062"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E1420"/>
                </a:solidFill>
                <a:latin typeface="IBM Plex Sans" pitchFamily="34" charset="0"/>
                <a:ea typeface="IBM Plex Sans" pitchFamily="34" charset="-122"/>
                <a:cs typeface="IBM Plex Sans" pitchFamily="34" charset="-120"/>
              </a:rPr>
              <a:t>Compare with a simple baseline</a:t>
            </a:r>
            <a:endParaRPr lang="en-US" sz="1400" dirty="0"/>
          </a:p>
        </p:txBody>
      </p:sp>
      <p:sp>
        <p:nvSpPr>
          <p:cNvPr id="25" name="Shape 23"/>
          <p:cNvSpPr/>
          <p:nvPr/>
        </p:nvSpPr>
        <p:spPr>
          <a:xfrm>
            <a:off x="8855075" y="3783332"/>
            <a:ext cx="2520950" cy="1215390"/>
          </a:xfrm>
          <a:prstGeom prst="roundRect">
            <a:avLst>
              <a:gd name="adj" fmla="val 6008"/>
            </a:avLst>
          </a:prstGeom>
          <a:solidFill>
            <a:srgbClr val="FBFBF8"/>
          </a:solidFill>
          <a:ln w="6350">
            <a:solidFill>
              <a:srgbClr val="DAD8D0"/>
            </a:solidFill>
            <a:prstDash val="solid"/>
          </a:ln>
        </p:spPr>
        <p:txBody>
          <a:bodyPr/>
          <a:lstStyle/>
          <a:p>
            <a:endParaRPr lang="en-GB"/>
          </a:p>
        </p:txBody>
      </p:sp>
      <p:sp>
        <p:nvSpPr>
          <p:cNvPr id="26" name="Text 24"/>
          <p:cNvSpPr/>
          <p:nvPr/>
        </p:nvSpPr>
        <p:spPr>
          <a:xfrm>
            <a:off x="9060180" y="3988436"/>
            <a:ext cx="217406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7C73"/>
                </a:solidFill>
                <a:latin typeface="JetBrains Mono" pitchFamily="49" charset="0"/>
                <a:ea typeface="JetBrains Mono" pitchFamily="49" charset="-122"/>
                <a:cs typeface="JetBrains Mono" pitchFamily="49" charset="-120"/>
              </a:rPr>
              <a:t>08</a:t>
            </a:r>
            <a:endParaRPr lang="en-US" sz="1400" dirty="0"/>
          </a:p>
        </p:txBody>
      </p:sp>
      <p:sp>
        <p:nvSpPr>
          <p:cNvPr id="27" name="Text 25"/>
          <p:cNvSpPr/>
          <p:nvPr/>
        </p:nvSpPr>
        <p:spPr>
          <a:xfrm>
            <a:off x="9060180" y="4313557"/>
            <a:ext cx="2174062"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E1420"/>
                </a:solidFill>
                <a:latin typeface="IBM Plex Sans" pitchFamily="34" charset="0"/>
                <a:ea typeface="IBM Plex Sans" pitchFamily="34" charset="-122"/>
                <a:cs typeface="IBM Plex Sans" pitchFamily="34" charset="-120"/>
              </a:rPr>
              <a:t>Serve predictions through the backend API</a:t>
            </a:r>
            <a:endParaRPr lang="en-US" sz="1400" dirty="0"/>
          </a:p>
        </p:txBody>
      </p:sp>
      <p:sp>
        <p:nvSpPr>
          <p:cNvPr id="28" name="Text 26"/>
          <p:cNvSpPr/>
          <p:nvPr/>
        </p:nvSpPr>
        <p:spPr>
          <a:xfrm>
            <a:off x="812800" y="5593082"/>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No fabricated outcomes or labels: every record comes from the arena’s own experiment engine.</a:t>
            </a:r>
            <a:endParaRPr lang="en-US" sz="1400" dirty="0"/>
          </a:p>
        </p:txBody>
      </p:sp>
      <p:sp>
        <p:nvSpPr>
          <p:cNvPr id="29" name="Text 27"/>
          <p:cNvSpPr/>
          <p:nvPr/>
        </p:nvSpPr>
        <p:spPr>
          <a:xfrm>
            <a:off x="812800" y="6238239"/>
            <a:ext cx="351129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JetBrains Mono" pitchFamily="49" charset="0"/>
                <a:ea typeface="JetBrains Mono" pitchFamily="49" charset="-122"/>
                <a:cs typeface="JetBrains Mono" pitchFamily="49" charset="-120"/>
              </a:rPr>
              <a:t>Optimisation Arena · OxHack 2026</a:t>
            </a:r>
            <a:endParaRPr lang="en-US" sz="1200" dirty="0"/>
          </a:p>
        </p:txBody>
      </p:sp>
      <p:sp>
        <p:nvSpPr>
          <p:cNvPr id="30" name="Text 28"/>
          <p:cNvSpPr/>
          <p:nvPr/>
        </p:nvSpPr>
        <p:spPr>
          <a:xfrm>
            <a:off x="11145520" y="6238239"/>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JetBrains Mono" pitchFamily="49" charset="0"/>
                <a:ea typeface="JetBrains Mono" pitchFamily="49" charset="-122"/>
                <a:cs typeface="JetBrains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42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4FD1C5"/>
                </a:solidFill>
                <a:latin typeface="JetBrains Mono" pitchFamily="49" charset="0"/>
                <a:ea typeface="JetBrains Mono" pitchFamily="49" charset="-122"/>
                <a:cs typeface="JetBrains Mono" pitchFamily="49" charset="-120"/>
              </a:rPr>
              <a:t>END TO END</a:t>
            </a:r>
            <a:endParaRPr lang="en-US" sz="1200" dirty="0"/>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EF1F5"/>
                </a:solidFill>
                <a:latin typeface="Space Grotesk" pitchFamily="34" charset="0"/>
                <a:ea typeface="Space Grotesk" pitchFamily="34" charset="-122"/>
                <a:cs typeface="Space Grotesk" pitchFamily="34" charset="-120"/>
              </a:rPr>
              <a:t>Predict, run, verify</a:t>
            </a:r>
            <a:endParaRPr lang="en-US" sz="3200" dirty="0"/>
          </a:p>
        </p:txBody>
      </p:sp>
      <p:sp>
        <p:nvSpPr>
          <p:cNvPr id="4" name="Shape 2"/>
          <p:cNvSpPr/>
          <p:nvPr/>
        </p:nvSpPr>
        <p:spPr>
          <a:xfrm>
            <a:off x="812800" y="1889761"/>
            <a:ext cx="1621473" cy="1338580"/>
          </a:xfrm>
          <a:prstGeom prst="roundRect">
            <a:avLst>
              <a:gd name="adj" fmla="val 5693"/>
            </a:avLst>
          </a:prstGeom>
          <a:solidFill>
            <a:srgbClr val="161E2D"/>
          </a:solidFill>
          <a:ln/>
        </p:spPr>
        <p:txBody>
          <a:bodyPr/>
          <a:lstStyle/>
          <a:p>
            <a:endParaRPr lang="en-GB"/>
          </a:p>
        </p:txBody>
      </p:sp>
      <p:sp>
        <p:nvSpPr>
          <p:cNvPr id="5" name="Text 3"/>
          <p:cNvSpPr/>
          <p:nvPr/>
        </p:nvSpPr>
        <p:spPr>
          <a:xfrm>
            <a:off x="990600" y="2067561"/>
            <a:ext cx="131667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FD1C5"/>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990600" y="2357121"/>
            <a:ext cx="1316673" cy="71882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EEF1F5"/>
                </a:solidFill>
                <a:latin typeface="IBM Plex Sans" pitchFamily="34" charset="0"/>
                <a:ea typeface="IBM Plex Sans" pitchFamily="34" charset="-122"/>
                <a:cs typeface="IBM Plex Sans" pitchFamily="34" charset="-120"/>
              </a:rPr>
              <a:t>Set function, dimensions, budget</a:t>
            </a:r>
            <a:endParaRPr lang="en-US" sz="1400" dirty="0"/>
          </a:p>
        </p:txBody>
      </p:sp>
      <p:pic>
        <p:nvPicPr>
          <p:cNvPr id="7" name="Image 0" descr="connector"/>
          <p:cNvPicPr>
            <a:picLocks noChangeAspect="1"/>
          </p:cNvPicPr>
          <p:nvPr/>
        </p:nvPicPr>
        <p:blipFill>
          <a:blip r:embed="rId3"/>
          <a:srcRect/>
          <a:stretch/>
        </p:blipFill>
        <p:spPr>
          <a:xfrm>
            <a:off x="2586673" y="2508250"/>
            <a:ext cx="304800" cy="101600"/>
          </a:xfrm>
          <a:prstGeom prst="rect">
            <a:avLst/>
          </a:prstGeom>
        </p:spPr>
      </p:pic>
      <p:sp>
        <p:nvSpPr>
          <p:cNvPr id="8" name="Shape 5"/>
          <p:cNvSpPr/>
          <p:nvPr/>
        </p:nvSpPr>
        <p:spPr>
          <a:xfrm>
            <a:off x="3043873" y="2005332"/>
            <a:ext cx="1621552" cy="1107440"/>
          </a:xfrm>
          <a:prstGeom prst="roundRect">
            <a:avLst>
              <a:gd name="adj" fmla="val 6881"/>
            </a:avLst>
          </a:prstGeom>
          <a:solidFill>
            <a:srgbClr val="161E2D"/>
          </a:solidFill>
          <a:ln/>
        </p:spPr>
        <p:txBody>
          <a:bodyPr/>
          <a:lstStyle/>
          <a:p>
            <a:endParaRPr lang="en-GB"/>
          </a:p>
        </p:txBody>
      </p:sp>
      <p:sp>
        <p:nvSpPr>
          <p:cNvPr id="9" name="Text 6"/>
          <p:cNvSpPr/>
          <p:nvPr/>
        </p:nvSpPr>
        <p:spPr>
          <a:xfrm>
            <a:off x="3221673" y="2183132"/>
            <a:ext cx="131675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FD1C5"/>
                </a:solidFill>
                <a:latin typeface="JetBrains Mono" pitchFamily="49" charset="0"/>
                <a:ea typeface="JetBrains Mono" pitchFamily="49" charset="-122"/>
                <a:cs typeface="JetBrains Mono" pitchFamily="49" charset="-120"/>
              </a:rPr>
              <a:t>02</a:t>
            </a:r>
            <a:endParaRPr lang="en-US" sz="1200" dirty="0"/>
          </a:p>
        </p:txBody>
      </p:sp>
      <p:sp>
        <p:nvSpPr>
          <p:cNvPr id="10" name="Text 7"/>
          <p:cNvSpPr/>
          <p:nvPr/>
        </p:nvSpPr>
        <p:spPr>
          <a:xfrm>
            <a:off x="3221673" y="2472689"/>
            <a:ext cx="1316752"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EEF1F5"/>
                </a:solidFill>
                <a:latin typeface="IBM Plex Sans" pitchFamily="34" charset="0"/>
                <a:ea typeface="IBM Plex Sans" pitchFamily="34" charset="-122"/>
                <a:cs typeface="IBM Plex Sans" pitchFamily="34" charset="-120"/>
              </a:rPr>
              <a:t>Tree predicts and explains</a:t>
            </a:r>
            <a:endParaRPr lang="en-US" sz="1400" dirty="0"/>
          </a:p>
        </p:txBody>
      </p:sp>
      <p:pic>
        <p:nvPicPr>
          <p:cNvPr id="11" name="Image 1" descr="connector"/>
          <p:cNvPicPr>
            <a:picLocks noChangeAspect="1"/>
          </p:cNvPicPr>
          <p:nvPr/>
        </p:nvPicPr>
        <p:blipFill>
          <a:blip r:embed="rId3"/>
          <a:srcRect/>
          <a:stretch/>
        </p:blipFill>
        <p:spPr>
          <a:xfrm>
            <a:off x="4817825" y="2508250"/>
            <a:ext cx="304800" cy="101600"/>
          </a:xfrm>
          <a:prstGeom prst="rect">
            <a:avLst/>
          </a:prstGeom>
        </p:spPr>
      </p:pic>
      <p:sp>
        <p:nvSpPr>
          <p:cNvPr id="12" name="Shape 8"/>
          <p:cNvSpPr/>
          <p:nvPr/>
        </p:nvSpPr>
        <p:spPr>
          <a:xfrm>
            <a:off x="5275025" y="2005332"/>
            <a:ext cx="1621552" cy="1107440"/>
          </a:xfrm>
          <a:prstGeom prst="roundRect">
            <a:avLst>
              <a:gd name="adj" fmla="val 6881"/>
            </a:avLst>
          </a:prstGeom>
          <a:solidFill>
            <a:srgbClr val="161E2D"/>
          </a:solidFill>
          <a:ln/>
        </p:spPr>
        <p:txBody>
          <a:bodyPr/>
          <a:lstStyle/>
          <a:p>
            <a:endParaRPr lang="en-GB"/>
          </a:p>
        </p:txBody>
      </p:sp>
      <p:sp>
        <p:nvSpPr>
          <p:cNvPr id="13" name="Text 9"/>
          <p:cNvSpPr/>
          <p:nvPr/>
        </p:nvSpPr>
        <p:spPr>
          <a:xfrm>
            <a:off x="5452825" y="2183132"/>
            <a:ext cx="131675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FD1C5"/>
                </a:solidFill>
                <a:latin typeface="JetBrains Mono" pitchFamily="49" charset="0"/>
                <a:ea typeface="JetBrains Mono" pitchFamily="49" charset="-122"/>
                <a:cs typeface="JetBrains Mono" pitchFamily="49" charset="-120"/>
              </a:rPr>
              <a:t>03</a:t>
            </a:r>
            <a:endParaRPr lang="en-US" sz="1200" dirty="0"/>
          </a:p>
        </p:txBody>
      </p:sp>
      <p:sp>
        <p:nvSpPr>
          <p:cNvPr id="14" name="Text 10"/>
          <p:cNvSpPr/>
          <p:nvPr/>
        </p:nvSpPr>
        <p:spPr>
          <a:xfrm>
            <a:off x="5452825" y="2472689"/>
            <a:ext cx="1316752"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EEF1F5"/>
                </a:solidFill>
                <a:latin typeface="IBM Plex Sans" pitchFamily="34" charset="0"/>
                <a:ea typeface="IBM Plex Sans" pitchFamily="34" charset="-122"/>
                <a:cs typeface="IBM Plex Sans" pitchFamily="34" charset="-120"/>
              </a:rPr>
              <a:t>Run all three algorithms</a:t>
            </a:r>
            <a:endParaRPr lang="en-US" sz="1400" dirty="0"/>
          </a:p>
        </p:txBody>
      </p:sp>
      <p:pic>
        <p:nvPicPr>
          <p:cNvPr id="15" name="Image 2" descr="connector"/>
          <p:cNvPicPr>
            <a:picLocks noChangeAspect="1"/>
          </p:cNvPicPr>
          <p:nvPr/>
        </p:nvPicPr>
        <p:blipFill>
          <a:blip r:embed="rId3"/>
          <a:srcRect/>
          <a:stretch/>
        </p:blipFill>
        <p:spPr>
          <a:xfrm>
            <a:off x="7048977" y="2508250"/>
            <a:ext cx="304800" cy="101600"/>
          </a:xfrm>
          <a:prstGeom prst="rect">
            <a:avLst/>
          </a:prstGeom>
        </p:spPr>
      </p:pic>
      <p:sp>
        <p:nvSpPr>
          <p:cNvPr id="16" name="Shape 11"/>
          <p:cNvSpPr/>
          <p:nvPr/>
        </p:nvSpPr>
        <p:spPr>
          <a:xfrm>
            <a:off x="7506177" y="2005332"/>
            <a:ext cx="1621552" cy="1107440"/>
          </a:xfrm>
          <a:prstGeom prst="roundRect">
            <a:avLst>
              <a:gd name="adj" fmla="val 6881"/>
            </a:avLst>
          </a:prstGeom>
          <a:solidFill>
            <a:srgbClr val="161E2D"/>
          </a:solidFill>
          <a:ln/>
        </p:spPr>
        <p:txBody>
          <a:bodyPr/>
          <a:lstStyle/>
          <a:p>
            <a:endParaRPr lang="en-GB"/>
          </a:p>
        </p:txBody>
      </p:sp>
      <p:sp>
        <p:nvSpPr>
          <p:cNvPr id="17" name="Text 12"/>
          <p:cNvSpPr/>
          <p:nvPr/>
        </p:nvSpPr>
        <p:spPr>
          <a:xfrm>
            <a:off x="7683977" y="2183132"/>
            <a:ext cx="131675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FD1C5"/>
                </a:solidFill>
                <a:latin typeface="JetBrains Mono" pitchFamily="49" charset="0"/>
                <a:ea typeface="JetBrains Mono" pitchFamily="49" charset="-122"/>
                <a:cs typeface="JetBrains Mono" pitchFamily="49" charset="-120"/>
              </a:rPr>
              <a:t>04</a:t>
            </a:r>
            <a:endParaRPr lang="en-US" sz="1200" dirty="0"/>
          </a:p>
        </p:txBody>
      </p:sp>
      <p:sp>
        <p:nvSpPr>
          <p:cNvPr id="18" name="Text 13"/>
          <p:cNvSpPr/>
          <p:nvPr/>
        </p:nvSpPr>
        <p:spPr>
          <a:xfrm>
            <a:off x="7683977" y="2472689"/>
            <a:ext cx="1316752"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EEF1F5"/>
                </a:solidFill>
                <a:latin typeface="IBM Plex Sans" pitchFamily="34" charset="0"/>
                <a:ea typeface="IBM Plex Sans" pitchFamily="34" charset="-122"/>
                <a:cs typeface="IBM Plex Sans" pitchFamily="34" charset="-120"/>
              </a:rPr>
              <a:t>Measure the actual winner</a:t>
            </a:r>
            <a:endParaRPr lang="en-US" sz="1400" dirty="0"/>
          </a:p>
        </p:txBody>
      </p:sp>
      <p:pic>
        <p:nvPicPr>
          <p:cNvPr id="19" name="Image 3" descr="connector"/>
          <p:cNvPicPr>
            <a:picLocks noChangeAspect="1"/>
          </p:cNvPicPr>
          <p:nvPr/>
        </p:nvPicPr>
        <p:blipFill>
          <a:blip r:embed="rId3"/>
          <a:srcRect/>
          <a:stretch/>
        </p:blipFill>
        <p:spPr>
          <a:xfrm>
            <a:off x="9280128" y="2508250"/>
            <a:ext cx="304800" cy="101600"/>
          </a:xfrm>
          <a:prstGeom prst="rect">
            <a:avLst/>
          </a:prstGeom>
        </p:spPr>
      </p:pic>
      <p:sp>
        <p:nvSpPr>
          <p:cNvPr id="20" name="Shape 14"/>
          <p:cNvSpPr/>
          <p:nvPr/>
        </p:nvSpPr>
        <p:spPr>
          <a:xfrm>
            <a:off x="9743678" y="1885950"/>
            <a:ext cx="1629172" cy="1346200"/>
          </a:xfrm>
          <a:prstGeom prst="roundRect">
            <a:avLst>
              <a:gd name="adj" fmla="val 5189"/>
            </a:avLst>
          </a:prstGeom>
          <a:solidFill>
            <a:srgbClr val="162A30"/>
          </a:solidFill>
          <a:ln w="12700">
            <a:solidFill>
              <a:srgbClr val="4FD1C5"/>
            </a:solidFill>
            <a:prstDash val="solid"/>
          </a:ln>
        </p:spPr>
        <p:txBody>
          <a:bodyPr/>
          <a:lstStyle/>
          <a:p>
            <a:endParaRPr lang="en-GB"/>
          </a:p>
        </p:txBody>
      </p:sp>
      <p:sp>
        <p:nvSpPr>
          <p:cNvPr id="21" name="Text 15"/>
          <p:cNvSpPr/>
          <p:nvPr/>
        </p:nvSpPr>
        <p:spPr>
          <a:xfrm>
            <a:off x="9925288" y="2067561"/>
            <a:ext cx="131675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FD1C5"/>
                </a:solidFill>
                <a:latin typeface="JetBrains Mono" pitchFamily="49" charset="0"/>
                <a:ea typeface="JetBrains Mono" pitchFamily="49" charset="-122"/>
                <a:cs typeface="JetBrains Mono" pitchFamily="49" charset="-120"/>
              </a:rPr>
              <a:t>05</a:t>
            </a:r>
            <a:endParaRPr lang="en-US" sz="1200" dirty="0"/>
          </a:p>
        </p:txBody>
      </p:sp>
      <p:sp>
        <p:nvSpPr>
          <p:cNvPr id="22" name="Text 16"/>
          <p:cNvSpPr/>
          <p:nvPr/>
        </p:nvSpPr>
        <p:spPr>
          <a:xfrm>
            <a:off x="9925288" y="2357121"/>
            <a:ext cx="1316752" cy="71882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EEF1F5"/>
                </a:solidFill>
                <a:latin typeface="IBM Plex Sans" pitchFamily="34" charset="0"/>
                <a:ea typeface="IBM Plex Sans" pitchFamily="34" charset="-122"/>
                <a:cs typeface="IBM Plex Sans" pitchFamily="34" charset="-120"/>
              </a:rPr>
              <a:t>Compare predicted with actual</a:t>
            </a:r>
            <a:endParaRPr lang="en-US" sz="1400" dirty="0"/>
          </a:p>
        </p:txBody>
      </p:sp>
      <p:sp>
        <p:nvSpPr>
          <p:cNvPr id="24" name="Text 18"/>
          <p:cNvSpPr/>
          <p:nvPr/>
        </p:nvSpPr>
        <p:spPr>
          <a:xfrm>
            <a:off x="812800" y="6238242"/>
            <a:ext cx="351129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391A4"/>
                </a:solidFill>
                <a:latin typeface="JetBrains Mono" pitchFamily="49" charset="0"/>
                <a:ea typeface="JetBrains Mono" pitchFamily="49" charset="-122"/>
                <a:cs typeface="JetBrains Mono" pitchFamily="49" charset="-120"/>
              </a:rPr>
              <a:t>Optimisation Arena · OxHack 2026</a:t>
            </a:r>
            <a:endParaRPr lang="en-US" sz="1200" dirty="0"/>
          </a:p>
        </p:txBody>
      </p:sp>
      <p:sp>
        <p:nvSpPr>
          <p:cNvPr id="25" name="Text 19"/>
          <p:cNvSpPr/>
          <p:nvPr/>
        </p:nvSpPr>
        <p:spPr>
          <a:xfrm>
            <a:off x="11145520" y="6238242"/>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391A4"/>
                </a:solidFill>
                <a:latin typeface="JetBrains Mono" pitchFamily="49" charset="0"/>
                <a:ea typeface="JetBrains Mono" pitchFamily="49" charset="-122"/>
                <a:cs typeface="JetBrains Mono" pitchFamily="49" charset="-120"/>
              </a:rPr>
              <a:t>08</a:t>
            </a:r>
            <a:endParaRPr lang="en-US" sz="1200" dirty="0"/>
          </a:p>
        </p:txBody>
      </p:sp>
      <p:pic>
        <p:nvPicPr>
          <p:cNvPr id="29" name="Picture 28">
            <a:extLst>
              <a:ext uri="{FF2B5EF4-FFF2-40B4-BE49-F238E27FC236}">
                <a16:creationId xmlns:a16="http://schemas.microsoft.com/office/drawing/2014/main" id="{91B23FA7-70BB-E90C-F6EF-C776D7B3B909}"/>
              </a:ext>
            </a:extLst>
          </p:cNvPr>
          <p:cNvPicPr>
            <a:picLocks noChangeAspect="1"/>
          </p:cNvPicPr>
          <p:nvPr/>
        </p:nvPicPr>
        <p:blipFill>
          <a:blip r:embed="rId4"/>
          <a:stretch>
            <a:fillRect/>
          </a:stretch>
        </p:blipFill>
        <p:spPr>
          <a:xfrm>
            <a:off x="1147666" y="3359876"/>
            <a:ext cx="9624630" cy="268532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42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4FD1C5"/>
                </a:solidFill>
                <a:latin typeface="JetBrains Mono" pitchFamily="49" charset="0"/>
                <a:ea typeface="JetBrains Mono" pitchFamily="49" charset="-122"/>
                <a:cs typeface="JetBrains Mono" pitchFamily="49" charset="-120"/>
              </a:rPr>
              <a:t>LIVE VERIFICATION</a:t>
            </a:r>
            <a:endParaRPr lang="en-US" sz="1200" dirty="0"/>
          </a:p>
        </p:txBody>
      </p:sp>
      <p:sp>
        <p:nvSpPr>
          <p:cNvPr id="3" name="Text 1"/>
          <p:cNvSpPr>
            <a:spLocks noGrp="1"/>
          </p:cNvSpPr>
          <p:nvPr>
            <p:ph type="title"/>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EF1F5"/>
                </a:solidFill>
                <a:latin typeface="Space Grotesk" pitchFamily="34" charset="0"/>
                <a:ea typeface="Space Grotesk" pitchFamily="34" charset="-122"/>
                <a:cs typeface="Space Grotesk" pitchFamily="34" charset="-120"/>
              </a:rPr>
              <a:t>Did the prediction hold?</a:t>
            </a:r>
            <a:endParaRPr lang="en-US" sz="3200" dirty="0"/>
          </a:p>
        </p:txBody>
      </p:sp>
      <p:sp>
        <p:nvSpPr>
          <p:cNvPr id="5" name="Shape 3"/>
          <p:cNvSpPr/>
          <p:nvPr/>
        </p:nvSpPr>
        <p:spPr>
          <a:xfrm>
            <a:off x="8331200" y="1879600"/>
            <a:ext cx="3048000" cy="914400"/>
          </a:xfrm>
          <a:prstGeom prst="roundRect">
            <a:avLst>
              <a:gd name="adj" fmla="val 8333"/>
            </a:avLst>
          </a:prstGeom>
          <a:solidFill>
            <a:srgbClr val="161E2D"/>
          </a:solidFill>
          <a:ln/>
        </p:spPr>
        <p:txBody>
          <a:bodyPr/>
          <a:lstStyle/>
          <a:p>
            <a:endParaRPr lang="en-GB"/>
          </a:p>
        </p:txBody>
      </p:sp>
      <p:sp>
        <p:nvSpPr>
          <p:cNvPr id="6" name="Text 4"/>
          <p:cNvSpPr/>
          <p:nvPr/>
        </p:nvSpPr>
        <p:spPr>
          <a:xfrm>
            <a:off x="8534400" y="2032000"/>
            <a:ext cx="2720848" cy="234950"/>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8391A4"/>
                </a:solidFill>
                <a:latin typeface="JetBrains Mono" pitchFamily="49" charset="0"/>
                <a:ea typeface="JetBrains Mono" pitchFamily="49" charset="-122"/>
                <a:cs typeface="JetBrains Mono" pitchFamily="49" charset="-120"/>
              </a:rPr>
              <a:t>Predicted</a:t>
            </a:r>
            <a:endParaRPr lang="en-US" sz="1196" dirty="0"/>
          </a:p>
        </p:txBody>
      </p:sp>
      <p:sp>
        <p:nvSpPr>
          <p:cNvPr id="7" name="Text 5"/>
          <p:cNvSpPr/>
          <p:nvPr/>
        </p:nvSpPr>
        <p:spPr>
          <a:xfrm>
            <a:off x="8534400" y="2292350"/>
            <a:ext cx="2720848" cy="374650"/>
          </a:xfrm>
          <a:prstGeom prst="rect">
            <a:avLst/>
          </a:prstGeom>
          <a:noFill/>
          <a:ln/>
        </p:spPr>
        <p:txBody>
          <a:bodyPr wrap="square" lIns="0" tIns="0" rIns="0" bIns="0" rtlCol="0" anchor="t">
            <a:normAutofit/>
          </a:bodyPr>
          <a:lstStyle/>
          <a:p>
            <a:pPr marL="0" indent="0" algn="l">
              <a:lnSpc>
                <a:spcPts val="2774"/>
              </a:lnSpc>
              <a:buNone/>
            </a:pPr>
            <a:r>
              <a:rPr lang="en-US" sz="1981" dirty="0">
                <a:solidFill>
                  <a:srgbClr val="EEF1F5"/>
                </a:solidFill>
                <a:latin typeface="Space Grotesk" pitchFamily="34" charset="0"/>
                <a:ea typeface="Space Grotesk" pitchFamily="34" charset="-122"/>
                <a:cs typeface="Space Grotesk" pitchFamily="34" charset="-120"/>
              </a:rPr>
              <a:t>Genetic Algorithm</a:t>
            </a:r>
            <a:endParaRPr lang="en-US" sz="1981" dirty="0"/>
          </a:p>
        </p:txBody>
      </p:sp>
      <p:sp>
        <p:nvSpPr>
          <p:cNvPr id="8" name="Shape 6"/>
          <p:cNvSpPr/>
          <p:nvPr/>
        </p:nvSpPr>
        <p:spPr>
          <a:xfrm>
            <a:off x="8331200" y="2895600"/>
            <a:ext cx="3048000" cy="914400"/>
          </a:xfrm>
          <a:prstGeom prst="roundRect">
            <a:avLst>
              <a:gd name="adj" fmla="val 8333"/>
            </a:avLst>
          </a:prstGeom>
          <a:solidFill>
            <a:srgbClr val="161E2D"/>
          </a:solidFill>
          <a:ln/>
        </p:spPr>
        <p:txBody>
          <a:bodyPr/>
          <a:lstStyle/>
          <a:p>
            <a:endParaRPr lang="en-GB"/>
          </a:p>
        </p:txBody>
      </p:sp>
      <p:sp>
        <p:nvSpPr>
          <p:cNvPr id="9" name="Text 7"/>
          <p:cNvSpPr/>
          <p:nvPr/>
        </p:nvSpPr>
        <p:spPr>
          <a:xfrm>
            <a:off x="8534400" y="3048000"/>
            <a:ext cx="2720848" cy="234950"/>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8391A4"/>
                </a:solidFill>
                <a:latin typeface="JetBrains Mono" pitchFamily="49" charset="0"/>
                <a:ea typeface="JetBrains Mono" pitchFamily="49" charset="-122"/>
                <a:cs typeface="JetBrains Mono" pitchFamily="49" charset="-120"/>
              </a:rPr>
              <a:t>Observed winner</a:t>
            </a:r>
            <a:endParaRPr lang="en-US" sz="1196" dirty="0"/>
          </a:p>
        </p:txBody>
      </p:sp>
      <p:sp>
        <p:nvSpPr>
          <p:cNvPr id="10" name="Text 8"/>
          <p:cNvSpPr/>
          <p:nvPr/>
        </p:nvSpPr>
        <p:spPr>
          <a:xfrm>
            <a:off x="8534400" y="3308350"/>
            <a:ext cx="2720848" cy="374650"/>
          </a:xfrm>
          <a:prstGeom prst="rect">
            <a:avLst/>
          </a:prstGeom>
          <a:noFill/>
          <a:ln/>
        </p:spPr>
        <p:txBody>
          <a:bodyPr wrap="square" lIns="0" tIns="0" rIns="0" bIns="0" rtlCol="0" anchor="t">
            <a:normAutofit/>
          </a:bodyPr>
          <a:lstStyle/>
          <a:p>
            <a:pPr marL="0" indent="0" algn="l">
              <a:lnSpc>
                <a:spcPts val="2774"/>
              </a:lnSpc>
              <a:buNone/>
            </a:pPr>
            <a:r>
              <a:rPr lang="en-US" sz="1981" dirty="0">
                <a:solidFill>
                  <a:srgbClr val="EEF1F5"/>
                </a:solidFill>
                <a:latin typeface="Space Grotesk" pitchFamily="34" charset="0"/>
                <a:ea typeface="Space Grotesk" pitchFamily="34" charset="-122"/>
                <a:cs typeface="Space Grotesk" pitchFamily="34" charset="-120"/>
              </a:rPr>
              <a:t>Genetic Algorithm</a:t>
            </a:r>
            <a:endParaRPr lang="en-US" sz="1981" dirty="0"/>
          </a:p>
        </p:txBody>
      </p:sp>
      <p:sp>
        <p:nvSpPr>
          <p:cNvPr id="11" name="Shape 9"/>
          <p:cNvSpPr/>
          <p:nvPr/>
        </p:nvSpPr>
        <p:spPr>
          <a:xfrm>
            <a:off x="8331200" y="3911600"/>
            <a:ext cx="3048000" cy="914400"/>
          </a:xfrm>
          <a:prstGeom prst="roundRect">
            <a:avLst>
              <a:gd name="adj" fmla="val 8333"/>
            </a:avLst>
          </a:prstGeom>
          <a:solidFill>
            <a:srgbClr val="161E2D"/>
          </a:solidFill>
          <a:ln/>
        </p:spPr>
        <p:txBody>
          <a:bodyPr/>
          <a:lstStyle/>
          <a:p>
            <a:endParaRPr lang="en-GB" dirty="0"/>
          </a:p>
        </p:txBody>
      </p:sp>
      <p:sp>
        <p:nvSpPr>
          <p:cNvPr id="12" name="Text 10"/>
          <p:cNvSpPr/>
          <p:nvPr/>
        </p:nvSpPr>
        <p:spPr>
          <a:xfrm>
            <a:off x="8534400" y="4064000"/>
            <a:ext cx="2720848" cy="234950"/>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8391A4"/>
                </a:solidFill>
                <a:latin typeface="JetBrains Mono" pitchFamily="49" charset="0"/>
                <a:ea typeface="JetBrains Mono" pitchFamily="49" charset="-122"/>
                <a:cs typeface="JetBrains Mono" pitchFamily="49" charset="-120"/>
              </a:rPr>
              <a:t>Final objective</a:t>
            </a:r>
            <a:endParaRPr lang="en-US" sz="1196" dirty="0"/>
          </a:p>
        </p:txBody>
      </p:sp>
      <p:sp>
        <p:nvSpPr>
          <p:cNvPr id="13" name="Text 11"/>
          <p:cNvSpPr/>
          <p:nvPr/>
        </p:nvSpPr>
        <p:spPr>
          <a:xfrm>
            <a:off x="8534400" y="4324350"/>
            <a:ext cx="2720848" cy="374650"/>
          </a:xfrm>
          <a:prstGeom prst="rect">
            <a:avLst/>
          </a:prstGeom>
          <a:noFill/>
          <a:ln/>
        </p:spPr>
        <p:txBody>
          <a:bodyPr wrap="square" lIns="0" tIns="0" rIns="0" bIns="0" rtlCol="0" anchor="t">
            <a:normAutofit/>
          </a:bodyPr>
          <a:lstStyle/>
          <a:p>
            <a:pPr marL="0" indent="0" algn="l">
              <a:lnSpc>
                <a:spcPts val="2774"/>
              </a:lnSpc>
              <a:buNone/>
            </a:pPr>
            <a:r>
              <a:rPr lang="en-US" sz="1981" dirty="0">
                <a:solidFill>
                  <a:srgbClr val="EEF1F5"/>
                </a:solidFill>
                <a:latin typeface="Space Grotesk" pitchFamily="34" charset="0"/>
                <a:ea typeface="Space Grotesk" pitchFamily="34" charset="-122"/>
                <a:cs typeface="Space Grotesk" pitchFamily="34" charset="-120"/>
              </a:rPr>
              <a:t>[__]</a:t>
            </a:r>
            <a:endParaRPr lang="en-US" sz="1981" dirty="0"/>
          </a:p>
        </p:txBody>
      </p:sp>
      <p:sp>
        <p:nvSpPr>
          <p:cNvPr id="14" name="Shape 12"/>
          <p:cNvSpPr/>
          <p:nvPr/>
        </p:nvSpPr>
        <p:spPr>
          <a:xfrm>
            <a:off x="8331200" y="4927600"/>
            <a:ext cx="3048000" cy="914400"/>
          </a:xfrm>
          <a:prstGeom prst="roundRect">
            <a:avLst>
              <a:gd name="adj" fmla="val 8333"/>
            </a:avLst>
          </a:prstGeom>
          <a:solidFill>
            <a:srgbClr val="161E2D"/>
          </a:solidFill>
          <a:ln/>
        </p:spPr>
        <p:txBody>
          <a:bodyPr/>
          <a:lstStyle/>
          <a:p>
            <a:endParaRPr lang="en-GB"/>
          </a:p>
        </p:txBody>
      </p:sp>
      <p:sp>
        <p:nvSpPr>
          <p:cNvPr id="15" name="Text 13"/>
          <p:cNvSpPr/>
          <p:nvPr/>
        </p:nvSpPr>
        <p:spPr>
          <a:xfrm>
            <a:off x="8534400" y="5080000"/>
            <a:ext cx="2720848" cy="234950"/>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8391A4"/>
                </a:solidFill>
                <a:latin typeface="JetBrains Mono" pitchFamily="49" charset="0"/>
                <a:ea typeface="JetBrains Mono" pitchFamily="49" charset="-122"/>
                <a:cs typeface="JetBrains Mono" pitchFamily="49" charset="-120"/>
              </a:rPr>
              <a:t>Evaluations · runtime</a:t>
            </a:r>
            <a:endParaRPr lang="en-US" sz="1196" dirty="0"/>
          </a:p>
        </p:txBody>
      </p:sp>
      <p:sp>
        <p:nvSpPr>
          <p:cNvPr id="16" name="Text 14"/>
          <p:cNvSpPr/>
          <p:nvPr/>
        </p:nvSpPr>
        <p:spPr>
          <a:xfrm>
            <a:off x="8534400" y="5340350"/>
            <a:ext cx="2720848" cy="374650"/>
          </a:xfrm>
          <a:prstGeom prst="rect">
            <a:avLst/>
          </a:prstGeom>
          <a:noFill/>
          <a:ln/>
        </p:spPr>
        <p:txBody>
          <a:bodyPr wrap="square" lIns="0" tIns="0" rIns="0" bIns="0" rtlCol="0" anchor="t">
            <a:normAutofit/>
          </a:bodyPr>
          <a:lstStyle/>
          <a:p>
            <a:pPr marL="0" indent="0" algn="l">
              <a:lnSpc>
                <a:spcPts val="2774"/>
              </a:lnSpc>
              <a:buNone/>
            </a:pPr>
            <a:r>
              <a:rPr lang="en-US" sz="1981" dirty="0">
                <a:solidFill>
                  <a:srgbClr val="EEF1F5"/>
                </a:solidFill>
                <a:latin typeface="Space Grotesk" pitchFamily="34" charset="0"/>
                <a:ea typeface="Space Grotesk" pitchFamily="34" charset="-122"/>
                <a:cs typeface="Space Grotesk" pitchFamily="34" charset="-120"/>
              </a:rPr>
              <a:t>[0 · 33 s]</a:t>
            </a:r>
            <a:endParaRPr lang="en-US" sz="1981" dirty="0"/>
          </a:p>
        </p:txBody>
      </p:sp>
      <p:sp>
        <p:nvSpPr>
          <p:cNvPr id="17" name="Text 15"/>
          <p:cNvSpPr/>
          <p:nvPr/>
        </p:nvSpPr>
        <p:spPr>
          <a:xfrm>
            <a:off x="812800" y="6238242"/>
            <a:ext cx="351129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391A4"/>
                </a:solidFill>
                <a:latin typeface="JetBrains Mono" pitchFamily="49" charset="0"/>
                <a:ea typeface="JetBrains Mono" pitchFamily="49" charset="-122"/>
                <a:cs typeface="JetBrains Mono" pitchFamily="49" charset="-120"/>
              </a:rPr>
              <a:t>Optimisation Arena · OxHack 2026</a:t>
            </a:r>
            <a:endParaRPr lang="en-US" sz="1200" dirty="0"/>
          </a:p>
        </p:txBody>
      </p:sp>
      <p:sp>
        <p:nvSpPr>
          <p:cNvPr id="18" name="Text 16"/>
          <p:cNvSpPr/>
          <p:nvPr/>
        </p:nvSpPr>
        <p:spPr>
          <a:xfrm>
            <a:off x="11145520" y="6238242"/>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391A4"/>
                </a:solidFill>
                <a:latin typeface="JetBrains Mono" pitchFamily="49" charset="0"/>
                <a:ea typeface="JetBrains Mono" pitchFamily="49" charset="-122"/>
                <a:cs typeface="JetBrains Mono" pitchFamily="49" charset="-120"/>
              </a:rPr>
              <a:t>09</a:t>
            </a:r>
            <a:endParaRPr lang="en-US" sz="1200" dirty="0"/>
          </a:p>
        </p:txBody>
      </p:sp>
      <p:pic>
        <p:nvPicPr>
          <p:cNvPr id="20" name="Picture 19">
            <a:extLst>
              <a:ext uri="{FF2B5EF4-FFF2-40B4-BE49-F238E27FC236}">
                <a16:creationId xmlns:a16="http://schemas.microsoft.com/office/drawing/2014/main" id="{379276B0-FE0B-4820-C0B8-BEDD10215CF9}"/>
              </a:ext>
            </a:extLst>
          </p:cNvPr>
          <p:cNvPicPr>
            <a:picLocks noChangeAspect="1"/>
          </p:cNvPicPr>
          <p:nvPr/>
        </p:nvPicPr>
        <p:blipFill>
          <a:blip r:embed="rId3"/>
          <a:stretch>
            <a:fillRect/>
          </a:stretch>
        </p:blipFill>
        <p:spPr>
          <a:xfrm>
            <a:off x="2004138" y="1889615"/>
            <a:ext cx="4489968" cy="384974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0E142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4FD1C5"/>
                </a:solidFill>
                <a:latin typeface="JetBrains Mono" pitchFamily="49" charset="0"/>
                <a:ea typeface="JetBrains Mono" pitchFamily="49" charset="-122"/>
                <a:cs typeface="JetBrains Mono" pitchFamily="49" charset="-120"/>
              </a:rPr>
              <a:t>SCIENTIFIC HONESTY</a:t>
            </a:r>
            <a:endParaRPr lang="en-US" sz="1200" dirty="0"/>
          </a:p>
        </p:txBody>
      </p:sp>
      <p:sp>
        <p:nvSpPr>
          <p:cNvPr id="3" name="Text 1"/>
          <p:cNvSpPr>
            <a:spLocks noGrp="1"/>
          </p:cNvSpPr>
          <p:nvPr>
            <p:ph type="title"/>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EF1F5"/>
                </a:solidFill>
                <a:latin typeface="Space Grotesk" pitchFamily="34" charset="0"/>
                <a:ea typeface="Space Grotesk" pitchFamily="34" charset="-122"/>
                <a:cs typeface="Space Grotesk" pitchFamily="34" charset="-120"/>
              </a:rPr>
              <a:t>What the evidence supports</a:t>
            </a:r>
            <a:endParaRPr lang="en-US" sz="3200" dirty="0"/>
          </a:p>
        </p:txBody>
      </p:sp>
      <p:sp>
        <p:nvSpPr>
          <p:cNvPr id="4" name="Shape 2"/>
          <p:cNvSpPr/>
          <p:nvPr/>
        </p:nvSpPr>
        <p:spPr>
          <a:xfrm>
            <a:off x="812800" y="3175000"/>
            <a:ext cx="5181600" cy="1107440"/>
          </a:xfrm>
          <a:prstGeom prst="roundRect">
            <a:avLst>
              <a:gd name="adj" fmla="val 9174"/>
            </a:avLst>
          </a:prstGeom>
          <a:solidFill>
            <a:srgbClr val="161E2D"/>
          </a:solidFill>
          <a:ln/>
        </p:spPr>
        <p:txBody>
          <a:bodyPr/>
          <a:lstStyle/>
          <a:p>
            <a:endParaRPr lang="en-GB"/>
          </a:p>
        </p:txBody>
      </p:sp>
      <p:pic>
        <p:nvPicPr>
          <p:cNvPr id="5" name="Image 0" descr="Lock"/>
          <p:cNvPicPr>
            <a:picLocks noChangeAspect="1"/>
          </p:cNvPicPr>
          <p:nvPr/>
        </p:nvPicPr>
        <p:blipFill>
          <a:blip r:embed="rId3"/>
          <a:srcRect/>
          <a:stretch/>
        </p:blipFill>
        <p:spPr>
          <a:xfrm>
            <a:off x="1066800" y="3429000"/>
            <a:ext cx="304800" cy="304800"/>
          </a:xfrm>
          <a:prstGeom prst="rect">
            <a:avLst/>
          </a:prstGeom>
        </p:spPr>
      </p:pic>
      <p:sp>
        <p:nvSpPr>
          <p:cNvPr id="6" name="Text 3"/>
          <p:cNvSpPr/>
          <p:nvPr/>
        </p:nvSpPr>
        <p:spPr>
          <a:xfrm>
            <a:off x="1549400" y="3429000"/>
            <a:ext cx="431673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EEF1F5"/>
                </a:solidFill>
                <a:latin typeface="Space Grotesk" pitchFamily="34" charset="0"/>
                <a:ea typeface="Space Grotesk" pitchFamily="34" charset="-122"/>
                <a:cs typeface="Space Grotesk" pitchFamily="34" charset="-120"/>
              </a:rPr>
              <a:t>No leakage</a:t>
            </a:r>
            <a:endParaRPr lang="en-US" sz="1800" dirty="0"/>
          </a:p>
        </p:txBody>
      </p:sp>
      <p:sp>
        <p:nvSpPr>
          <p:cNvPr id="7" name="Text 4"/>
          <p:cNvSpPr/>
          <p:nvPr/>
        </p:nvSpPr>
        <p:spPr>
          <a:xfrm>
            <a:off x="1549400" y="3779521"/>
            <a:ext cx="431673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4BFCC"/>
                </a:solidFill>
                <a:latin typeface="IBM Plex Sans" pitchFamily="34" charset="0"/>
                <a:ea typeface="IBM Plex Sans" pitchFamily="34" charset="-122"/>
                <a:cs typeface="IBM Plex Sans" pitchFamily="34" charset="-120"/>
              </a:rPr>
              <a:t>Near-duplicate runs never span train and test.</a:t>
            </a:r>
            <a:endParaRPr lang="en-US" sz="1400" dirty="0"/>
          </a:p>
        </p:txBody>
      </p:sp>
      <p:sp>
        <p:nvSpPr>
          <p:cNvPr id="8" name="Shape 5"/>
          <p:cNvSpPr/>
          <p:nvPr/>
        </p:nvSpPr>
        <p:spPr>
          <a:xfrm>
            <a:off x="6197600" y="3175000"/>
            <a:ext cx="5181600" cy="1107440"/>
          </a:xfrm>
          <a:prstGeom prst="roundRect">
            <a:avLst>
              <a:gd name="adj" fmla="val 9174"/>
            </a:avLst>
          </a:prstGeom>
          <a:solidFill>
            <a:srgbClr val="161E2D"/>
          </a:solidFill>
          <a:ln/>
        </p:spPr>
        <p:txBody>
          <a:bodyPr/>
          <a:lstStyle/>
          <a:p>
            <a:endParaRPr lang="en-GB"/>
          </a:p>
        </p:txBody>
      </p:sp>
      <p:pic>
        <p:nvPicPr>
          <p:cNvPr id="9" name="Image 1" descr="Globe"/>
          <p:cNvPicPr>
            <a:picLocks noChangeAspect="1"/>
          </p:cNvPicPr>
          <p:nvPr/>
        </p:nvPicPr>
        <p:blipFill>
          <a:blip r:embed="rId4"/>
          <a:srcRect/>
          <a:stretch/>
        </p:blipFill>
        <p:spPr>
          <a:xfrm>
            <a:off x="6451600" y="3429000"/>
            <a:ext cx="304800" cy="304800"/>
          </a:xfrm>
          <a:prstGeom prst="rect">
            <a:avLst/>
          </a:prstGeom>
        </p:spPr>
      </p:pic>
      <p:sp>
        <p:nvSpPr>
          <p:cNvPr id="10" name="Text 6"/>
          <p:cNvSpPr/>
          <p:nvPr/>
        </p:nvSpPr>
        <p:spPr>
          <a:xfrm>
            <a:off x="6934200" y="3429000"/>
            <a:ext cx="431673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EEF1F5"/>
                </a:solidFill>
                <a:latin typeface="Space Grotesk" pitchFamily="34" charset="0"/>
                <a:ea typeface="Space Grotesk" pitchFamily="34" charset="-122"/>
                <a:cs typeface="Space Grotesk" pitchFamily="34" charset="-120"/>
              </a:rPr>
              <a:t>Known functions only</a:t>
            </a:r>
            <a:endParaRPr lang="en-US" sz="1800" dirty="0"/>
          </a:p>
        </p:txBody>
      </p:sp>
      <p:sp>
        <p:nvSpPr>
          <p:cNvPr id="11" name="Text 7"/>
          <p:cNvSpPr/>
          <p:nvPr/>
        </p:nvSpPr>
        <p:spPr>
          <a:xfrm>
            <a:off x="6934200" y="3779521"/>
            <a:ext cx="44450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4BFCC"/>
                </a:solidFill>
                <a:latin typeface="IBM Plex Sans" pitchFamily="34" charset="0"/>
                <a:ea typeface="IBM Plex Sans" pitchFamily="34" charset="-122"/>
                <a:cs typeface="IBM Plex Sans" pitchFamily="34" charset="-120"/>
              </a:rPr>
              <a:t>New runs of four benchmarks are not new functions.</a:t>
            </a:r>
            <a:endParaRPr lang="en-US" sz="1400" dirty="0"/>
          </a:p>
        </p:txBody>
      </p:sp>
      <p:sp>
        <p:nvSpPr>
          <p:cNvPr id="12" name="Shape 8"/>
          <p:cNvSpPr/>
          <p:nvPr/>
        </p:nvSpPr>
        <p:spPr>
          <a:xfrm>
            <a:off x="812800" y="4485642"/>
            <a:ext cx="5181600" cy="1356360"/>
          </a:xfrm>
          <a:prstGeom prst="roundRect">
            <a:avLst>
              <a:gd name="adj" fmla="val 7491"/>
            </a:avLst>
          </a:prstGeom>
          <a:solidFill>
            <a:srgbClr val="161E2D"/>
          </a:solidFill>
          <a:ln/>
        </p:spPr>
        <p:txBody>
          <a:bodyPr/>
          <a:lstStyle/>
          <a:p>
            <a:endParaRPr lang="en-GB"/>
          </a:p>
        </p:txBody>
      </p:sp>
      <p:pic>
        <p:nvPicPr>
          <p:cNvPr id="13" name="Image 2" descr="Chart"/>
          <p:cNvPicPr>
            <a:picLocks noChangeAspect="1"/>
          </p:cNvPicPr>
          <p:nvPr/>
        </p:nvPicPr>
        <p:blipFill>
          <a:blip r:embed="rId5"/>
          <a:srcRect/>
          <a:stretch/>
        </p:blipFill>
        <p:spPr>
          <a:xfrm>
            <a:off x="1066800" y="4739642"/>
            <a:ext cx="304800" cy="304800"/>
          </a:xfrm>
          <a:prstGeom prst="rect">
            <a:avLst/>
          </a:prstGeom>
        </p:spPr>
      </p:pic>
      <p:sp>
        <p:nvSpPr>
          <p:cNvPr id="14" name="Text 9"/>
          <p:cNvSpPr/>
          <p:nvPr/>
        </p:nvSpPr>
        <p:spPr>
          <a:xfrm>
            <a:off x="1549400" y="4739642"/>
            <a:ext cx="431673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EEF1F5"/>
                </a:solidFill>
                <a:latin typeface="Space Grotesk" pitchFamily="34" charset="0"/>
                <a:ea typeface="Space Grotesk" pitchFamily="34" charset="-122"/>
                <a:cs typeface="Space Grotesk" pitchFamily="34" charset="-120"/>
              </a:rPr>
              <a:t>Scores, not probabilities</a:t>
            </a:r>
            <a:endParaRPr lang="en-US" sz="1800" dirty="0"/>
          </a:p>
        </p:txBody>
      </p:sp>
      <p:sp>
        <p:nvSpPr>
          <p:cNvPr id="15" name="Text 10"/>
          <p:cNvSpPr/>
          <p:nvPr/>
        </p:nvSpPr>
        <p:spPr>
          <a:xfrm>
            <a:off x="1549400" y="5090164"/>
            <a:ext cx="431673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4BFCC"/>
                </a:solidFill>
                <a:latin typeface="IBM Plex Sans" pitchFamily="34" charset="0"/>
                <a:ea typeface="IBM Plex Sans" pitchFamily="34" charset="-122"/>
                <a:cs typeface="IBM Plex Sans" pitchFamily="34" charset="-120"/>
              </a:rPr>
              <a:t>Tree scores are not calibrated chances of success.</a:t>
            </a:r>
            <a:endParaRPr lang="en-US" sz="1400" dirty="0"/>
          </a:p>
        </p:txBody>
      </p:sp>
      <p:sp>
        <p:nvSpPr>
          <p:cNvPr id="16" name="Shape 11"/>
          <p:cNvSpPr/>
          <p:nvPr/>
        </p:nvSpPr>
        <p:spPr>
          <a:xfrm>
            <a:off x="6197600" y="4485642"/>
            <a:ext cx="5181600" cy="1356360"/>
          </a:xfrm>
          <a:prstGeom prst="roundRect">
            <a:avLst>
              <a:gd name="adj" fmla="val 7491"/>
            </a:avLst>
          </a:prstGeom>
          <a:solidFill>
            <a:srgbClr val="161E2D"/>
          </a:solidFill>
          <a:ln/>
        </p:spPr>
        <p:txBody>
          <a:bodyPr/>
          <a:lstStyle/>
          <a:p>
            <a:endParaRPr lang="en-GB"/>
          </a:p>
        </p:txBody>
      </p:sp>
      <p:pic>
        <p:nvPicPr>
          <p:cNvPr id="17" name="Image 3" descr="Warning"/>
          <p:cNvPicPr>
            <a:picLocks noChangeAspect="1"/>
          </p:cNvPicPr>
          <p:nvPr/>
        </p:nvPicPr>
        <p:blipFill>
          <a:blip r:embed="rId6"/>
          <a:srcRect/>
          <a:stretch/>
        </p:blipFill>
        <p:spPr>
          <a:xfrm>
            <a:off x="6451600" y="4739642"/>
            <a:ext cx="304800" cy="304800"/>
          </a:xfrm>
          <a:prstGeom prst="rect">
            <a:avLst/>
          </a:prstGeom>
        </p:spPr>
      </p:pic>
      <p:sp>
        <p:nvSpPr>
          <p:cNvPr id="18" name="Text 12"/>
          <p:cNvSpPr/>
          <p:nvPr/>
        </p:nvSpPr>
        <p:spPr>
          <a:xfrm>
            <a:off x="6934200" y="4739642"/>
            <a:ext cx="431673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EEF1F5"/>
                </a:solidFill>
                <a:latin typeface="Space Grotesk" pitchFamily="34" charset="0"/>
                <a:ea typeface="Space Grotesk" pitchFamily="34" charset="-122"/>
                <a:cs typeface="Space Grotesk" pitchFamily="34" charset="-120"/>
              </a:rPr>
              <a:t>Says when it can’t tell</a:t>
            </a:r>
            <a:endParaRPr lang="en-US" sz="1800" dirty="0"/>
          </a:p>
        </p:txBody>
      </p:sp>
      <p:sp>
        <p:nvSpPr>
          <p:cNvPr id="19" name="Text 13"/>
          <p:cNvSpPr/>
          <p:nvPr/>
        </p:nvSpPr>
        <p:spPr>
          <a:xfrm>
            <a:off x="6934200" y="5090164"/>
            <a:ext cx="431673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4BFCC"/>
                </a:solidFill>
                <a:latin typeface="IBM Plex Sans" pitchFamily="34" charset="0"/>
                <a:ea typeface="IBM Plex Sans" pitchFamily="34" charset="-122"/>
                <a:cs typeface="IBM Plex Sans" pitchFamily="34" charset="-120"/>
              </a:rPr>
              <a:t>Too little data means no recommendation, not invented confidence.</a:t>
            </a:r>
            <a:endParaRPr lang="en-US" sz="1400" dirty="0"/>
          </a:p>
        </p:txBody>
      </p:sp>
      <p:sp>
        <p:nvSpPr>
          <p:cNvPr id="20" name="Text 14"/>
          <p:cNvSpPr/>
          <p:nvPr/>
        </p:nvSpPr>
        <p:spPr>
          <a:xfrm>
            <a:off x="812800" y="6238242"/>
            <a:ext cx="351129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391A4"/>
                </a:solidFill>
                <a:latin typeface="JetBrains Mono" pitchFamily="49" charset="0"/>
                <a:ea typeface="JetBrains Mono" pitchFamily="49" charset="-122"/>
                <a:cs typeface="JetBrains Mono" pitchFamily="49" charset="-120"/>
              </a:rPr>
              <a:t>Optimisation Arena · OxHack 2026</a:t>
            </a:r>
            <a:endParaRPr lang="en-US" sz="1200" dirty="0"/>
          </a:p>
        </p:txBody>
      </p:sp>
      <p:sp>
        <p:nvSpPr>
          <p:cNvPr id="21" name="Text 15"/>
          <p:cNvSpPr/>
          <p:nvPr/>
        </p:nvSpPr>
        <p:spPr>
          <a:xfrm>
            <a:off x="11145520" y="6238242"/>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391A4"/>
                </a:solidFill>
                <a:latin typeface="JetBrains Mono" pitchFamily="49" charset="0"/>
                <a:ea typeface="JetBrains Mono" pitchFamily="49" charset="-122"/>
                <a:cs typeface="JetBrains Mono" pitchFamily="49" charset="-120"/>
              </a:rPr>
              <a:t>11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0F3D3E"/>
        </a:solidFill>
        <a:effectLst/>
      </p:bgPr>
    </p:bg>
    <p:spTree>
      <p:nvGrpSpPr>
        <p:cNvPr id="1" name=""/>
        <p:cNvGrpSpPr/>
        <p:nvPr/>
      </p:nvGrpSpPr>
      <p:grpSpPr>
        <a:xfrm>
          <a:off x="0" y="0"/>
          <a:ext cx="0" cy="0"/>
          <a:chOff x="0" y="0"/>
          <a:chExt cx="0" cy="0"/>
        </a:xfrm>
      </p:grpSpPr>
      <p:sp>
        <p:nvSpPr>
          <p:cNvPr id="2" name="Text 0"/>
          <p:cNvSpPr/>
          <p:nvPr/>
        </p:nvSpPr>
        <p:spPr>
          <a:xfrm>
            <a:off x="812800" y="2105664"/>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FE3D8"/>
                </a:solidFill>
                <a:latin typeface="JetBrains Mono" pitchFamily="49" charset="0"/>
                <a:ea typeface="JetBrains Mono" pitchFamily="49" charset="-122"/>
                <a:cs typeface="JetBrains Mono" pitchFamily="49" charset="-120"/>
              </a:rPr>
              <a:t>WHY IT MATTERS</a:t>
            </a:r>
            <a:endParaRPr lang="en-US" sz="1200" dirty="0"/>
          </a:p>
        </p:txBody>
      </p:sp>
      <p:sp>
        <p:nvSpPr>
          <p:cNvPr id="3" name="Text 1"/>
          <p:cNvSpPr>
            <a:spLocks noGrp="1"/>
          </p:cNvSpPr>
          <p:nvPr>
            <p:ph type="title"/>
          </p:nvPr>
        </p:nvSpPr>
        <p:spPr>
          <a:xfrm>
            <a:off x="812800" y="2471421"/>
            <a:ext cx="10883392" cy="1143000"/>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F4F7F6"/>
                </a:solidFill>
                <a:latin typeface="Space Grotesk" pitchFamily="34" charset="0"/>
                <a:ea typeface="Space Grotesk" pitchFamily="34" charset="-122"/>
                <a:cs typeface="Space Grotesk" pitchFamily="34" charset="-120"/>
              </a:rPr>
              <a:t>An evidence-based decision loop for choosing algorithms</a:t>
            </a:r>
            <a:endParaRPr lang="en-US" sz="4000" dirty="0"/>
          </a:p>
        </p:txBody>
      </p:sp>
      <p:sp>
        <p:nvSpPr>
          <p:cNvPr id="4" name="Text 2"/>
          <p:cNvSpPr/>
          <p:nvPr/>
        </p:nvSpPr>
        <p:spPr>
          <a:xfrm>
            <a:off x="812800" y="4046221"/>
            <a:ext cx="1634014" cy="502920"/>
          </a:xfrm>
          <a:prstGeom prst="roundRect">
            <a:avLst>
              <a:gd name="adj" fmla="val 15152"/>
            </a:avLst>
          </a:prstGeom>
          <a:solidFill>
            <a:srgbClr val="145052"/>
          </a:solidFill>
          <a:ln/>
        </p:spPr>
        <p:txBody>
          <a:bodyPr wrap="square" lIns="53882" tIns="104682" rIns="53882" bIns="79282" rtlCol="0" anchor="t">
            <a:normAutofit/>
          </a:bodyPr>
          <a:lstStyle/>
          <a:p>
            <a:pPr marL="0" indent="0" algn="ctr">
              <a:lnSpc>
                <a:spcPts val="1960"/>
              </a:lnSpc>
              <a:buNone/>
            </a:pPr>
            <a:r>
              <a:rPr lang="en-US" sz="1400" dirty="0">
                <a:solidFill>
                  <a:srgbClr val="F4F7F6"/>
                </a:solidFill>
                <a:latin typeface="IBM Plex Sans" pitchFamily="34" charset="0"/>
                <a:ea typeface="IBM Plex Sans" pitchFamily="34" charset="-122"/>
                <a:cs typeface="IBM Plex Sans" pitchFamily="34" charset="-120"/>
              </a:rPr>
              <a:t>Optimisation</a:t>
            </a:r>
            <a:endParaRPr lang="en-US" sz="1400" dirty="0"/>
          </a:p>
        </p:txBody>
      </p:sp>
      <p:sp>
        <p:nvSpPr>
          <p:cNvPr id="5" name="Text 3"/>
          <p:cNvSpPr/>
          <p:nvPr/>
        </p:nvSpPr>
        <p:spPr>
          <a:xfrm>
            <a:off x="2599214" y="4046221"/>
            <a:ext cx="1634093" cy="502920"/>
          </a:xfrm>
          <a:prstGeom prst="roundRect">
            <a:avLst>
              <a:gd name="adj" fmla="val 15152"/>
            </a:avLst>
          </a:prstGeom>
          <a:solidFill>
            <a:srgbClr val="145052"/>
          </a:solidFill>
          <a:ln/>
        </p:spPr>
        <p:txBody>
          <a:bodyPr wrap="square" lIns="53882" tIns="104682" rIns="53882" bIns="79282" rtlCol="0" anchor="t">
            <a:normAutofit/>
          </a:bodyPr>
          <a:lstStyle/>
          <a:p>
            <a:pPr marL="0" indent="0" algn="ctr">
              <a:lnSpc>
                <a:spcPts val="1960"/>
              </a:lnSpc>
              <a:buNone/>
            </a:pPr>
            <a:r>
              <a:rPr lang="en-US" sz="1400" dirty="0">
                <a:solidFill>
                  <a:srgbClr val="F4F7F6"/>
                </a:solidFill>
                <a:latin typeface="IBM Plex Sans" pitchFamily="34" charset="0"/>
                <a:ea typeface="IBM Plex Sans" pitchFamily="34" charset="-122"/>
                <a:cs typeface="IBM Plex Sans" pitchFamily="34" charset="-120"/>
              </a:rPr>
              <a:t>Experiments</a:t>
            </a:r>
            <a:endParaRPr lang="en-US" sz="1400" dirty="0"/>
          </a:p>
        </p:txBody>
      </p:sp>
      <p:sp>
        <p:nvSpPr>
          <p:cNvPr id="6" name="Text 4"/>
          <p:cNvSpPr/>
          <p:nvPr/>
        </p:nvSpPr>
        <p:spPr>
          <a:xfrm>
            <a:off x="4385707" y="4046221"/>
            <a:ext cx="1634014" cy="502920"/>
          </a:xfrm>
          <a:prstGeom prst="roundRect">
            <a:avLst>
              <a:gd name="adj" fmla="val 15152"/>
            </a:avLst>
          </a:prstGeom>
          <a:solidFill>
            <a:srgbClr val="145052"/>
          </a:solidFill>
          <a:ln/>
        </p:spPr>
        <p:txBody>
          <a:bodyPr wrap="square" lIns="53882" tIns="104682" rIns="53882" bIns="79282" rtlCol="0" anchor="t">
            <a:normAutofit/>
          </a:bodyPr>
          <a:lstStyle/>
          <a:p>
            <a:pPr marL="0" indent="0" algn="ctr">
              <a:lnSpc>
                <a:spcPts val="1960"/>
              </a:lnSpc>
              <a:buNone/>
            </a:pPr>
            <a:r>
              <a:rPr lang="en-US" sz="1400" dirty="0">
                <a:solidFill>
                  <a:srgbClr val="F4F7F6"/>
                </a:solidFill>
                <a:latin typeface="IBM Plex Sans" pitchFamily="34" charset="0"/>
                <a:ea typeface="IBM Plex Sans" pitchFamily="34" charset="-122"/>
                <a:cs typeface="IBM Plex Sans" pitchFamily="34" charset="-120"/>
              </a:rPr>
              <a:t>Data</a:t>
            </a:r>
            <a:endParaRPr lang="en-US" sz="1400" dirty="0"/>
          </a:p>
        </p:txBody>
      </p:sp>
      <p:sp>
        <p:nvSpPr>
          <p:cNvPr id="7" name="Text 5"/>
          <p:cNvSpPr/>
          <p:nvPr/>
        </p:nvSpPr>
        <p:spPr>
          <a:xfrm>
            <a:off x="6172121" y="4046221"/>
            <a:ext cx="1634093" cy="502920"/>
          </a:xfrm>
          <a:prstGeom prst="roundRect">
            <a:avLst>
              <a:gd name="adj" fmla="val 15152"/>
            </a:avLst>
          </a:prstGeom>
          <a:solidFill>
            <a:srgbClr val="145052"/>
          </a:solidFill>
          <a:ln/>
        </p:spPr>
        <p:txBody>
          <a:bodyPr wrap="square" lIns="53882" tIns="104682" rIns="53882" bIns="79282" rtlCol="0" anchor="t">
            <a:normAutofit/>
          </a:bodyPr>
          <a:lstStyle/>
          <a:p>
            <a:pPr marL="0" indent="0" algn="ctr">
              <a:lnSpc>
                <a:spcPts val="1960"/>
              </a:lnSpc>
              <a:buNone/>
            </a:pPr>
            <a:r>
              <a:rPr lang="en-US" sz="1400" dirty="0">
                <a:solidFill>
                  <a:srgbClr val="F4F7F6"/>
                </a:solidFill>
                <a:latin typeface="IBM Plex Sans" pitchFamily="34" charset="0"/>
                <a:ea typeface="IBM Plex Sans" pitchFamily="34" charset="-122"/>
                <a:cs typeface="IBM Plex Sans" pitchFamily="34" charset="-120"/>
              </a:rPr>
              <a:t>Predictions</a:t>
            </a:r>
            <a:endParaRPr lang="en-US" sz="1400" dirty="0"/>
          </a:p>
        </p:txBody>
      </p:sp>
      <p:sp>
        <p:nvSpPr>
          <p:cNvPr id="8" name="Text 6"/>
          <p:cNvSpPr/>
          <p:nvPr/>
        </p:nvSpPr>
        <p:spPr>
          <a:xfrm>
            <a:off x="7958614" y="4046221"/>
            <a:ext cx="1634093" cy="502920"/>
          </a:xfrm>
          <a:prstGeom prst="roundRect">
            <a:avLst>
              <a:gd name="adj" fmla="val 15152"/>
            </a:avLst>
          </a:prstGeom>
          <a:solidFill>
            <a:srgbClr val="145052"/>
          </a:solidFill>
          <a:ln/>
        </p:spPr>
        <p:txBody>
          <a:bodyPr wrap="square" lIns="53882" tIns="104682" rIns="53882" bIns="79282" rtlCol="0" anchor="t">
            <a:normAutofit/>
          </a:bodyPr>
          <a:lstStyle/>
          <a:p>
            <a:pPr marL="0" indent="0" algn="ctr">
              <a:lnSpc>
                <a:spcPts val="1960"/>
              </a:lnSpc>
              <a:buNone/>
            </a:pPr>
            <a:r>
              <a:rPr lang="en-US" sz="1400" dirty="0">
                <a:solidFill>
                  <a:srgbClr val="F4F7F6"/>
                </a:solidFill>
                <a:latin typeface="IBM Plex Sans" pitchFamily="34" charset="0"/>
                <a:ea typeface="IBM Plex Sans" pitchFamily="34" charset="-122"/>
                <a:cs typeface="IBM Plex Sans" pitchFamily="34" charset="-120"/>
              </a:rPr>
              <a:t>Explanations</a:t>
            </a:r>
            <a:endParaRPr lang="en-US" sz="1400" dirty="0"/>
          </a:p>
        </p:txBody>
      </p:sp>
      <p:sp>
        <p:nvSpPr>
          <p:cNvPr id="9" name="Text 7"/>
          <p:cNvSpPr/>
          <p:nvPr/>
        </p:nvSpPr>
        <p:spPr>
          <a:xfrm>
            <a:off x="9745107" y="4046221"/>
            <a:ext cx="1634093" cy="502920"/>
          </a:xfrm>
          <a:prstGeom prst="roundRect">
            <a:avLst>
              <a:gd name="adj" fmla="val 15152"/>
            </a:avLst>
          </a:prstGeom>
          <a:solidFill>
            <a:srgbClr val="7FE3D8"/>
          </a:solidFill>
          <a:ln/>
        </p:spPr>
        <p:txBody>
          <a:bodyPr wrap="square" lIns="53882" tIns="104682" rIns="53882" bIns="79282" rtlCol="0" anchor="t">
            <a:normAutofit/>
          </a:bodyPr>
          <a:lstStyle/>
          <a:p>
            <a:pPr marL="0" indent="0" algn="ctr">
              <a:lnSpc>
                <a:spcPts val="1960"/>
              </a:lnSpc>
              <a:buNone/>
            </a:pPr>
            <a:r>
              <a:rPr lang="en-US" sz="1400" dirty="0">
                <a:solidFill>
                  <a:srgbClr val="0F3D3E"/>
                </a:solidFill>
                <a:latin typeface="IBM Plex Sans" pitchFamily="34" charset="0"/>
                <a:ea typeface="IBM Plex Sans" pitchFamily="34" charset="-122"/>
                <a:cs typeface="IBM Plex Sans" pitchFamily="34" charset="-120"/>
              </a:rPr>
              <a:t>Verification</a:t>
            </a:r>
            <a:endParaRPr lang="en-US" sz="1400" dirty="0"/>
          </a:p>
        </p:txBody>
      </p:sp>
      <p:sp>
        <p:nvSpPr>
          <p:cNvPr id="10" name="Text 8"/>
          <p:cNvSpPr/>
          <p:nvPr/>
        </p:nvSpPr>
        <p:spPr>
          <a:xfrm>
            <a:off x="812800" y="6238242"/>
            <a:ext cx="351129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CC9C4"/>
                </a:solidFill>
                <a:latin typeface="JetBrains Mono" pitchFamily="49" charset="0"/>
                <a:ea typeface="JetBrains Mono" pitchFamily="49" charset="-122"/>
                <a:cs typeface="JetBrains Mono" pitchFamily="49" charset="-120"/>
              </a:rPr>
              <a:t>Optimisation Arena · OxHack 2026</a:t>
            </a:r>
            <a:endParaRPr lang="en-US" sz="1200" dirty="0"/>
          </a:p>
        </p:txBody>
      </p:sp>
      <p:sp>
        <p:nvSpPr>
          <p:cNvPr id="11" name="Text 9"/>
          <p:cNvSpPr/>
          <p:nvPr/>
        </p:nvSpPr>
        <p:spPr>
          <a:xfrm>
            <a:off x="11145520" y="6238242"/>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CC9C4"/>
                </a:solidFill>
                <a:latin typeface="JetBrains Mono" pitchFamily="49" charset="0"/>
                <a:ea typeface="JetBrains Mono" pitchFamily="49" charset="-122"/>
                <a:cs typeface="JetBrains Mono" pitchFamily="49" charset="-120"/>
              </a:rPr>
              <a:t>12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E1420"/>
        </a:solidFill>
        <a:effectLst/>
      </p:bgPr>
    </p:bg>
    <p:spTree>
      <p:nvGrpSpPr>
        <p:cNvPr id="1" name=""/>
        <p:cNvGrpSpPr/>
        <p:nvPr/>
      </p:nvGrpSpPr>
      <p:grpSpPr>
        <a:xfrm>
          <a:off x="0" y="0"/>
          <a:ext cx="0" cy="0"/>
          <a:chOff x="0" y="0"/>
          <a:chExt cx="0" cy="0"/>
        </a:xfrm>
      </p:grpSpPr>
      <p:sp>
        <p:nvSpPr>
          <p:cNvPr id="2" name="Text 0"/>
          <p:cNvSpPr/>
          <p:nvPr/>
        </p:nvSpPr>
        <p:spPr>
          <a:xfrm>
            <a:off x="812800" y="1440179"/>
            <a:ext cx="6854444"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4FD1C5"/>
                </a:solidFill>
                <a:latin typeface="JetBrains Mono" pitchFamily="49" charset="0"/>
                <a:ea typeface="JetBrains Mono" pitchFamily="49" charset="-122"/>
                <a:cs typeface="JetBrains Mono" pitchFamily="49" charset="-120"/>
              </a:rPr>
              <a:t>OPTIMISATION ARENA</a:t>
            </a:r>
            <a:endParaRPr lang="en-US" sz="1200" dirty="0"/>
          </a:p>
        </p:txBody>
      </p:sp>
      <p:sp>
        <p:nvSpPr>
          <p:cNvPr id="3" name="Text 1"/>
          <p:cNvSpPr/>
          <p:nvPr/>
        </p:nvSpPr>
        <p:spPr>
          <a:xfrm>
            <a:off x="812800" y="1907542"/>
            <a:ext cx="6854444" cy="1534160"/>
          </a:xfrm>
          <a:prstGeom prst="rect">
            <a:avLst/>
          </a:prstGeom>
          <a:noFill/>
          <a:ln/>
        </p:spPr>
        <p:txBody>
          <a:bodyPr wrap="square" lIns="0" tIns="0" rIns="0" bIns="0" rtlCol="0" anchor="t">
            <a:normAutofit/>
          </a:bodyPr>
          <a:lstStyle/>
          <a:p>
            <a:pPr marL="0" indent="0" algn="l">
              <a:lnSpc>
                <a:spcPts val="2970"/>
              </a:lnSpc>
              <a:buNone/>
            </a:pPr>
            <a:r>
              <a:rPr lang="en-US" sz="2200" dirty="0">
                <a:solidFill>
                  <a:srgbClr val="EEF1F5"/>
                </a:solidFill>
                <a:latin typeface="Space Grotesk" pitchFamily="34" charset="0"/>
                <a:ea typeface="Space Grotesk" pitchFamily="34" charset="-122"/>
                <a:cs typeface="Space Grotesk" pitchFamily="34" charset="-120"/>
              </a:rPr>
              <a:t>Compare algorithms on benchmark functions, learn from real experiment data, and recommend with an explainable decision tree that is checked by real runs.</a:t>
            </a:r>
            <a:endParaRPr lang="en-US" sz="2200" dirty="0"/>
          </a:p>
        </p:txBody>
      </p:sp>
      <p:sp>
        <p:nvSpPr>
          <p:cNvPr id="4" name="Text 2"/>
          <p:cNvSpPr>
            <a:spLocks noGrp="1"/>
          </p:cNvSpPr>
          <p:nvPr>
            <p:ph type="title"/>
          </p:nvPr>
        </p:nvSpPr>
        <p:spPr>
          <a:xfrm>
            <a:off x="812800" y="3670300"/>
            <a:ext cx="6854444" cy="13055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EEF1F5"/>
                </a:solidFill>
                <a:latin typeface="Space Grotesk" pitchFamily="34" charset="0"/>
                <a:ea typeface="Space Grotesk" pitchFamily="34" charset="-122"/>
                <a:cs typeface="Space Grotesk" pitchFamily="34" charset="-120"/>
              </a:rPr>
              <a:t>Thank you. Questions?</a:t>
            </a:r>
            <a:endParaRPr lang="en-US" sz="4800" dirty="0"/>
          </a:p>
        </p:txBody>
      </p:sp>
      <p:sp>
        <p:nvSpPr>
          <p:cNvPr id="5" name="Text 3"/>
          <p:cNvSpPr/>
          <p:nvPr/>
        </p:nvSpPr>
        <p:spPr>
          <a:xfrm>
            <a:off x="812800" y="5204464"/>
            <a:ext cx="685444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391A4"/>
                </a:solidFill>
                <a:latin typeface="JetBrains Mono" pitchFamily="49" charset="0"/>
                <a:ea typeface="JetBrains Mono" pitchFamily="49" charset="-122"/>
                <a:cs typeface="JetBrains Mono" pitchFamily="49" charset="-120"/>
              </a:rPr>
              <a:t>Harris Warraich, Alex Alexandro, Joseph Imobio · </a:t>
            </a:r>
            <a:endParaRPr lang="en-US" sz="1200" dirty="0"/>
          </a:p>
        </p:txBody>
      </p:sp>
    </p:spTree>
  </p:cSld>
  <p:clrMapOvr>
    <a:masterClrMapping/>
  </p:clrMapOvr>
</p:sld>
</file>

<file path=ppt/theme/theme1.xml><?xml version="1.0" encoding="utf-8"?>
<a:theme xmlns:a="http://schemas.openxmlformats.org/drawingml/2006/main" name="Optimisation Arena">
  <a:themeElements>
    <a:clrScheme name="Optimisation Arena">
      <a:dk1>
        <a:srgbClr val="0E1420"/>
      </a:dk1>
      <a:lt1>
        <a:srgbClr val="EEF1F5"/>
      </a:lt1>
      <a:dk2>
        <a:srgbClr val="242A35"/>
      </a:dk2>
      <a:lt2>
        <a:srgbClr val="B6BAC0"/>
      </a:lt2>
      <a:accent1>
        <a:srgbClr val="4FD1C5"/>
      </a:accent1>
      <a:accent2>
        <a:srgbClr val="0F7C73"/>
      </a:accent2>
      <a:accent3>
        <a:srgbClr val="145052"/>
      </a:accent3>
      <a:accent4>
        <a:srgbClr val="7FE3D8"/>
      </a:accent4>
      <a:accent5>
        <a:srgbClr val="9CC9C4"/>
      </a:accent5>
      <a:accent6>
        <a:srgbClr val="0F3D3E"/>
      </a:accent6>
      <a:hlink>
        <a:srgbClr val="0563C1"/>
      </a:hlink>
      <a:folHlink>
        <a:srgbClr val="954F72"/>
      </a:folHlink>
    </a:clrScheme>
    <a:fontScheme name="Optimisation Arena">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TotalTime>
  <Words>964</Words>
  <Application>Microsoft Office PowerPoint</Application>
  <PresentationFormat>Widescreen</PresentationFormat>
  <Paragraphs>156</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JetBrains Mono</vt:lpstr>
      <vt:lpstr>Arial</vt:lpstr>
      <vt:lpstr>Space Grotesk</vt:lpstr>
      <vt:lpstr>IBM Plex Sans</vt:lpstr>
      <vt:lpstr>Optimisation Arena</vt:lpstr>
      <vt:lpstr>Optimisation Arena</vt:lpstr>
      <vt:lpstr>Given a problem and a limited evaluation budget, which algorithm should we choose — and what evidence supports that choice?</vt:lpstr>
      <vt:lpstr>Four benchmark landscapes</vt:lpstr>
      <vt:lpstr>Three ways to search</vt:lpstr>
      <vt:lpstr>See the search happen</vt:lpstr>
      <vt:lpstr>Intelligent Algorithm Selector</vt:lpstr>
      <vt:lpstr>The training pipeline</vt:lpstr>
      <vt:lpstr>Predict, run, verify</vt:lpstr>
      <vt:lpstr>Did the prediction hold?</vt:lpstr>
      <vt:lpstr>What the evidence supports</vt:lpstr>
      <vt:lpstr>An evidence-based decision loop for choosing algorithms</vt:lpstr>
      <vt:lpstr>Thank you.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Optimisation Arena</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joseph imobio</cp:lastModifiedBy>
  <cp:revision>2</cp:revision>
  <dcterms:created xsi:type="dcterms:W3CDTF">2026-10-25T11:17:28Z</dcterms:created>
  <dcterms:modified xsi:type="dcterms:W3CDTF">2026-10-25T12:32:42Z</dcterms:modified>
</cp:coreProperties>
</file>